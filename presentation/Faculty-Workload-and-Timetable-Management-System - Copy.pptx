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zeret Mono Medium"/>
      <p:regular r:id="rId201314"/>
    </p:embeddedFont>
    <p:embeddedFont>
      <p:font typeface="IBM Plex Sans"/>
      <p:regular r:id="rId201315"/>
    </p:embeddedFont>
    <p:embeddedFont>
      <p:font typeface="IBM Plex Sans Bold"/>
      <p:regular r:id="rId201316"/>
    </p:embeddedFont>
    <p:embeddedFont>
      <p:font typeface="IBM Plex Sans Medium"/>
      <p:regular r:id="rId201317"/>
    </p:embeddedFont>
    <p:embeddedFont>
      <p:font typeface="Michroma"/>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combined review of the database implementation and the application development. State clearly that student and institutional details remain to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 around coordination work. The system is intended to centralize the facts, monitor workload, schedule classes, and surface conflicts or substitutions before they become operational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architecture from the user to the database and back. Emphasize Flask as the request-processing layer and SQLite as the relational store. The exact implementation should be confirmed against the project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model in two layers. Reference entities describe the available academic and physical resources. Operational entities record how those resources are used. Do not present column names or cardinalities as final until the actual schema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normal forms as a review checklist. The assignment example is intentionally illustrative. Confirm the actual candidate keys and dependencies before claiming that a particular decomposition is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constraints support consistency across related records. The SQL shown is a compact teaching example, not verified implementation evidence. The actual table definitions and statements should be checked against the project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SQL operation to a practical report. Joins provide context, grouping calculates workload, HAVING isolates cases for review, and ordered timetable queries make scheduling conflicts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intended workflow without claiming that the prototype performs more than the evidence shows. Make the distinction between linking an assignment and automatically assigning a course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matrix to separate expected behavior from observed behavior. The two conflict cases are the key validation point, but record creation and workload display also need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distinguishing the grounded prototype scope from future scope. Name the evidence still required before making implementation claims,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3.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4-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1EFB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1EFB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1EFB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7380" y="1049020"/>
            <a:ext cx="5308467" cy="396081"/>
          </a:xfrm>
          <a:prstGeom prst="rect">
            <a:avLst/>
          </a:prstGeom>
          <a:noFill/>
          <a:ln/>
        </p:spPr>
        <p:txBody>
          <a:bodyPr wrap="square" lIns="0" tIns="0" rIns="0" bIns="0" rtlCol="0" anchor="t">
            <a:normAutofit/>
          </a:bodyPr>
          <a:lstStyle/>
          <a:p>
            <a:pPr algn="l" indent="0" marL="0">
              <a:lnSpc>
                <a:spcPct val="100000"/>
              </a:lnSpc>
              <a:buNone/>
            </a:pPr>
            <a:r>
              <a:rPr lang="en-US" sz="1300" spc="78" kern="100" dirty="0">
                <a:solidFill>
                  <a:srgbClr val="000000"/>
                </a:solidFill>
                <a:latin typeface="Azeret Mono Medium" pitchFamily="34" charset="0"/>
                <a:ea typeface="Azeret Mono Medium" pitchFamily="34" charset="-122"/>
                <a:cs typeface="Azeret Mono Medium" pitchFamily="34" charset="-120"/>
              </a:rPr>
              <a:t>DATABASE IMPLEMENTATION · APPLICATION DEVELOPMENT</a:t>
            </a:r>
            <a:endParaRPr lang="en-US" sz="1300" dirty="0"/>
          </a:p>
        </p:txBody>
      </p:sp>
      <p:sp>
        <p:nvSpPr>
          <p:cNvPr id="3" name="Text 1"/>
          <p:cNvSpPr/>
          <p:nvPr/>
        </p:nvSpPr>
        <p:spPr>
          <a:xfrm>
            <a:off x="787380" y="1636703"/>
            <a:ext cx="5308467" cy="3154660"/>
          </a:xfrm>
          <a:prstGeom prst="rect">
            <a:avLst/>
          </a:prstGeom>
          <a:noFill/>
          <a:ln/>
        </p:spPr>
        <p:txBody>
          <a:bodyPr wrap="square" lIns="0" tIns="0" rIns="0" bIns="0" rtlCol="0" anchor="t">
            <a:normAutofit/>
          </a:bodyPr>
          <a:lstStyle/>
          <a:p>
            <a:pPr algn="l" indent="0" marL="0">
              <a:lnSpc>
                <a:spcPct val="90000"/>
              </a:lnSpc>
              <a:buNone/>
            </a:pPr>
            <a:r>
              <a:rPr lang="en-US" sz="4600" spc="-46" kern="100" dirty="0">
                <a:solidFill>
                  <a:srgbClr val="000000"/>
                </a:solidFill>
                <a:latin typeface="Michroma" pitchFamily="34" charset="0"/>
                <a:ea typeface="Michroma" pitchFamily="34" charset="-122"/>
                <a:cs typeface="Michroma" pitchFamily="34" charset="-120"/>
              </a:rPr>
              <a:t>Faculty Workload</a:t>
            </a:r>
            <a:endParaRPr lang="en-US" sz="4600" dirty="0"/>
          </a:p>
          <a:p>
            <a:pPr algn="l" indent="0" marL="0">
              <a:lnSpc>
                <a:spcPct val="90000"/>
              </a:lnSpc>
              <a:buNone/>
            </a:pPr>
            <a:r>
              <a:rPr lang="en-US" sz="4600" spc="-46" kern="100" dirty="0">
                <a:solidFill>
                  <a:srgbClr val="000000"/>
                </a:solidFill>
                <a:latin typeface="Michroma" pitchFamily="34" charset="0"/>
                <a:ea typeface="Michroma" pitchFamily="34" charset="-122"/>
                <a:cs typeface="Michroma" pitchFamily="34" charset="-120"/>
              </a:rPr>
              <a:t>and Timetable</a:t>
            </a:r>
            <a:endParaRPr lang="en-US" sz="4600" dirty="0"/>
          </a:p>
          <a:p>
            <a:pPr algn="l" indent="0" marL="0">
              <a:lnSpc>
                <a:spcPct val="90000"/>
              </a:lnSpc>
              <a:buNone/>
            </a:pPr>
            <a:r>
              <a:rPr lang="en-US" sz="4600" spc="-46" kern="100" dirty="0">
                <a:solidFill>
                  <a:srgbClr val="000000"/>
                </a:solidFill>
                <a:latin typeface="Michroma" pitchFamily="34" charset="0"/>
                <a:ea typeface="Michroma" pitchFamily="34" charset="-122"/>
                <a:cs typeface="Michroma" pitchFamily="34" charset="-120"/>
              </a:rPr>
              <a:t>Management System</a:t>
            </a:r>
            <a:endParaRPr lang="en-US" sz="4600" dirty="0"/>
          </a:p>
        </p:txBody>
      </p:sp>
      <p:sp>
        <p:nvSpPr>
          <p:cNvPr id="4" name="Text 2"/>
          <p:cNvSpPr/>
          <p:nvPr/>
        </p:nvSpPr>
        <p:spPr>
          <a:xfrm>
            <a:off x="787380" y="5027116"/>
            <a:ext cx="5918052" cy="342900"/>
          </a:xfrm>
          <a:prstGeom prst="rect">
            <a:avLst/>
          </a:prstGeom>
          <a:noFill/>
          <a:ln/>
        </p:spPr>
        <p:txBody>
          <a:bodyPr wrap="none" lIns="0" tIns="0" rIns="0" bIns="0" rtlCol="0" anchor="t"/>
          <a:lstStyle/>
          <a:p>
            <a:pPr algn="l" indent="0" marL="0">
              <a:lnSpc>
                <a:spcPct val="112000"/>
              </a:lnSpc>
              <a:buNone/>
            </a:pPr>
            <a:r>
              <a:rPr lang="en-US" sz="2000" dirty="0">
                <a:solidFill>
                  <a:srgbClr val="000000"/>
                </a:solidFill>
                <a:latin typeface="IBM Plex Sans" pitchFamily="34" charset="0"/>
                <a:ea typeface="IBM Plex Sans" pitchFamily="34" charset="-122"/>
                <a:cs typeface="IBM Plex Sans" pitchFamily="34" charset="-120"/>
              </a:rPr>
              <a:t>Combined Review 2 + Review 3</a:t>
            </a:r>
            <a:endParaRPr lang="en-US" sz="2000" dirty="0"/>
          </a:p>
        </p:txBody>
      </p:sp>
      <p:sp>
        <p:nvSpPr>
          <p:cNvPr id="5" name="Text 3"/>
          <p:cNvSpPr/>
          <p:nvPr/>
        </p:nvSpPr>
        <p:spPr>
          <a:xfrm>
            <a:off x="787380" y="5674181"/>
            <a:ext cx="5308467" cy="693241"/>
          </a:xfrm>
          <a:prstGeom prst="rect">
            <a:avLst/>
          </a:prstGeom>
          <a:noFill/>
          <a:ln/>
        </p:spPr>
        <p:txBody>
          <a:bodyPr wrap="square" lIns="0" tIns="0" rIns="0" bIns="0" rtlCol="0" anchor="t">
            <a:normAutofit/>
          </a:bodyPr>
          <a:lstStyle/>
          <a:p>
            <a:pPr algn="l" indent="0" marL="0">
              <a:lnSpc>
                <a:spcPct val="108000"/>
              </a:lnSpc>
              <a:buNone/>
            </a:pPr>
            <a:r>
              <a:rPr lang="en-US" sz="1400" spc="14" kern="100" dirty="0">
                <a:solidFill>
                  <a:srgbClr val="000000"/>
                </a:solidFill>
                <a:latin typeface="IBM Plex Sans" pitchFamily="34" charset="0"/>
                <a:ea typeface="IBM Plex Sans" pitchFamily="34" charset="-122"/>
                <a:cs typeface="IBM Plex Sans" pitchFamily="34" charset="-120"/>
              </a:rPr>
              <a:t>Student: To be verified</a:t>
            </a:r>
            <a:endParaRPr lang="en-US" sz="1400" dirty="0"/>
          </a:p>
          <a:p>
            <a:pPr algn="l" indent="0" marL="0">
              <a:lnSpc>
                <a:spcPct val="108000"/>
              </a:lnSpc>
              <a:buNone/>
            </a:pPr>
            <a:r>
              <a:rPr lang="en-US" sz="1400" spc="14" kern="100" dirty="0">
                <a:solidFill>
                  <a:srgbClr val="000000"/>
                </a:solidFill>
                <a:latin typeface="IBM Plex Sans" pitchFamily="34" charset="0"/>
                <a:ea typeface="IBM Plex Sans" pitchFamily="34" charset="-122"/>
                <a:cs typeface="IBM Plex Sans" pitchFamily="34" charset="-120"/>
              </a:rPr>
              <a:t>Roll number: To be verified</a:t>
            </a:r>
            <a:endParaRPr lang="en-US" sz="1400" dirty="0"/>
          </a:p>
          <a:p>
            <a:pPr algn="l" indent="0" marL="0">
              <a:lnSpc>
                <a:spcPct val="108000"/>
              </a:lnSpc>
              <a:buNone/>
            </a:pPr>
            <a:r>
              <a:rPr lang="en-US" sz="1400" spc="14" kern="100" dirty="0">
                <a:solidFill>
                  <a:srgbClr val="000000"/>
                </a:solidFill>
                <a:latin typeface="IBM Plex Sans" pitchFamily="34" charset="0"/>
                <a:ea typeface="IBM Plex Sans" pitchFamily="34" charset="-122"/>
                <a:cs typeface="IBM Plex Sans" pitchFamily="34" charset="-120"/>
              </a:rPr>
              <a:t>Programme, guide, university, academic year: To be verified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236220"/>
            <a:ext cx="7111822"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THE PROBLEM</a:t>
            </a:r>
            <a:endParaRPr lang="en-US" sz="1300" dirty="0"/>
          </a:p>
        </p:txBody>
      </p:sp>
      <p:sp>
        <p:nvSpPr>
          <p:cNvPr id="3" name="Text 1"/>
          <p:cNvSpPr/>
          <p:nvPr/>
        </p:nvSpPr>
        <p:spPr>
          <a:xfrm>
            <a:off x="609585" y="583671"/>
            <a:ext cx="6578435"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Manual scheduling creates avoidable coordination work</a:t>
            </a:r>
            <a:endParaRPr lang="en-US" sz="2800" dirty="0"/>
          </a:p>
        </p:txBody>
      </p:sp>
      <p:pic>
        <p:nvPicPr>
          <p:cNvPr id="4" name="Image 0" descr="preencoded.png">    </p:cNvPr>
          <p:cNvPicPr>
            <a:picLocks noChangeAspect="1"/>
          </p:cNvPicPr>
          <p:nvPr/>
        </p:nvPicPr>
        <p:blipFill>
          <a:blip r:embed="rId1"/>
          <a:stretch>
            <a:fillRect/>
          </a:stretch>
        </p:blipFill>
        <p:spPr>
          <a:xfrm>
            <a:off x="609585" y="2112169"/>
            <a:ext cx="761981" cy="762000"/>
          </a:xfrm>
          <a:prstGeom prst="rect">
            <a:avLst/>
          </a:prstGeom>
        </p:spPr>
      </p:pic>
      <p:sp>
        <p:nvSpPr>
          <p:cNvPr id="5" name="Text 2"/>
          <p:cNvSpPr/>
          <p:nvPr/>
        </p:nvSpPr>
        <p:spPr>
          <a:xfrm>
            <a:off x="609585" y="3064669"/>
            <a:ext cx="3136822"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Centralize</a:t>
            </a:r>
            <a:endParaRPr lang="en-US" sz="2000" dirty="0"/>
          </a:p>
        </p:txBody>
      </p:sp>
      <p:sp>
        <p:nvSpPr>
          <p:cNvPr id="6" name="Text 3"/>
          <p:cNvSpPr/>
          <p:nvPr/>
        </p:nvSpPr>
        <p:spPr>
          <a:xfrm>
            <a:off x="609585" y="3609816"/>
            <a:ext cx="31368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Faculty, courses, rooms, sections, and assignments.</a:t>
            </a:r>
            <a:endParaRPr lang="en-US" sz="1800" dirty="0"/>
          </a:p>
        </p:txBody>
      </p:sp>
      <p:pic>
        <p:nvPicPr>
          <p:cNvPr id="7" name="Image 1" descr="preencoded.png">    </p:cNvPr>
          <p:cNvPicPr>
            <a:picLocks noChangeAspect="1"/>
          </p:cNvPicPr>
          <p:nvPr/>
        </p:nvPicPr>
        <p:blipFill>
          <a:blip r:embed="rId2"/>
          <a:stretch>
            <a:fillRect/>
          </a:stretch>
        </p:blipFill>
        <p:spPr>
          <a:xfrm>
            <a:off x="4051199" y="2112169"/>
            <a:ext cx="761981" cy="762000"/>
          </a:xfrm>
          <a:prstGeom prst="rect">
            <a:avLst/>
          </a:prstGeom>
        </p:spPr>
      </p:pic>
      <p:sp>
        <p:nvSpPr>
          <p:cNvPr id="8" name="Text 4"/>
          <p:cNvSpPr/>
          <p:nvPr/>
        </p:nvSpPr>
        <p:spPr>
          <a:xfrm>
            <a:off x="4051199" y="3064669"/>
            <a:ext cx="3136822"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Track</a:t>
            </a:r>
            <a:endParaRPr lang="en-US" sz="2000" dirty="0"/>
          </a:p>
        </p:txBody>
      </p:sp>
      <p:sp>
        <p:nvSpPr>
          <p:cNvPr id="9" name="Text 5"/>
          <p:cNvSpPr/>
          <p:nvPr/>
        </p:nvSpPr>
        <p:spPr>
          <a:xfrm>
            <a:off x="4051199" y="3609816"/>
            <a:ext cx="31368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Teaching workload against defined limits.</a:t>
            </a:r>
            <a:endParaRPr lang="en-US" sz="1800" dirty="0"/>
          </a:p>
        </p:txBody>
      </p:sp>
      <p:pic>
        <p:nvPicPr>
          <p:cNvPr id="10" name="Image 2" descr="preencoded.png">    </p:cNvPr>
          <p:cNvPicPr>
            <a:picLocks noChangeAspect="1"/>
          </p:cNvPicPr>
          <p:nvPr/>
        </p:nvPicPr>
        <p:blipFill>
          <a:blip r:embed="rId3"/>
          <a:stretch>
            <a:fillRect/>
          </a:stretch>
        </p:blipFill>
        <p:spPr>
          <a:xfrm>
            <a:off x="609585" y="4523184"/>
            <a:ext cx="761981" cy="762000"/>
          </a:xfrm>
          <a:prstGeom prst="rect">
            <a:avLst/>
          </a:prstGeom>
        </p:spPr>
      </p:pic>
      <p:sp>
        <p:nvSpPr>
          <p:cNvPr id="11" name="Text 6"/>
          <p:cNvSpPr/>
          <p:nvPr/>
        </p:nvSpPr>
        <p:spPr>
          <a:xfrm>
            <a:off x="609585" y="5475684"/>
            <a:ext cx="3136822"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Schedule</a:t>
            </a:r>
            <a:endParaRPr lang="en-US" sz="2000" dirty="0"/>
          </a:p>
        </p:txBody>
      </p:sp>
      <p:sp>
        <p:nvSpPr>
          <p:cNvPr id="12" name="Text 7"/>
          <p:cNvSpPr/>
          <p:nvPr/>
        </p:nvSpPr>
        <p:spPr>
          <a:xfrm>
            <a:off x="609585" y="6020832"/>
            <a:ext cx="31368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Classes through rooms and time slots.</a:t>
            </a:r>
            <a:endParaRPr lang="en-US" sz="1800" dirty="0"/>
          </a:p>
        </p:txBody>
      </p:sp>
      <p:pic>
        <p:nvPicPr>
          <p:cNvPr id="13" name="Image 3" descr="preencoded.png">    </p:cNvPr>
          <p:cNvPicPr>
            <a:picLocks noChangeAspect="1"/>
          </p:cNvPicPr>
          <p:nvPr/>
        </p:nvPicPr>
        <p:blipFill>
          <a:blip r:embed="rId4"/>
          <a:stretch>
            <a:fillRect/>
          </a:stretch>
        </p:blipFill>
        <p:spPr>
          <a:xfrm>
            <a:off x="4051199" y="4523184"/>
            <a:ext cx="761981" cy="762000"/>
          </a:xfrm>
          <a:prstGeom prst="rect">
            <a:avLst/>
          </a:prstGeom>
        </p:spPr>
      </p:pic>
      <p:sp>
        <p:nvSpPr>
          <p:cNvPr id="14" name="Text 8"/>
          <p:cNvSpPr/>
          <p:nvPr/>
        </p:nvSpPr>
        <p:spPr>
          <a:xfrm>
            <a:off x="4051199" y="5475684"/>
            <a:ext cx="3136822"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Flag</a:t>
            </a:r>
            <a:endParaRPr lang="en-US" sz="2000" dirty="0"/>
          </a:p>
        </p:txBody>
      </p:sp>
      <p:sp>
        <p:nvSpPr>
          <p:cNvPr id="15" name="Text 9"/>
          <p:cNvSpPr/>
          <p:nvPr/>
        </p:nvSpPr>
        <p:spPr>
          <a:xfrm>
            <a:off x="4051199" y="6020832"/>
            <a:ext cx="31368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Substitutions, faculty conflicts, and room conflicts.</a:t>
            </a:r>
            <a:endParaRPr lang="en-US" sz="1800" dirty="0"/>
          </a:p>
        </p:txBody>
      </p:sp>
      <p:sp>
        <p:nvSpPr>
          <p:cNvPr id="16" name="Shape 10"/>
          <p:cNvSpPr/>
          <p:nvPr/>
        </p:nvSpPr>
        <p:spPr>
          <a:xfrm>
            <a:off x="7721407" y="0"/>
            <a:ext cx="4470288" cy="6858000"/>
          </a:xfrm>
          <a:prstGeom prst="roundRect">
            <a:avLst>
              <a:gd name="adj" fmla="val 3409"/>
            </a:avLst>
          </a:prstGeom>
          <a:noFill/>
          <a:ln w="19050">
            <a:solidFill>
              <a:srgbClr val="A85A2C"/>
            </a:solidFill>
            <a:prstDash val="solid"/>
          </a:ln>
          <a:effectLst>
            <a:outerShdw sx="100000" sy="100000" kx="0" ky="0" algn="bl" rotWithShape="0" blurRad="201930" dist="127" dir="16200000">
              <a:srgbClr val="a85a2c">
                <a:alpha val="40000"/>
              </a:srgbClr>
            </a:outerShdw>
          </a:effectLst>
        </p:spPr>
      </p:sp>
      <p:pic>
        <p:nvPicPr>
          <p:cNvPr id="17" name="Image 4" descr="preencoded.png">    </p:cNvPr>
          <p:cNvPicPr>
            <a:picLocks noChangeAspect="1"/>
          </p:cNvPicPr>
          <p:nvPr/>
        </p:nvPicPr>
        <p:blipFill>
          <a:blip r:embed="rId5"/>
          <a:stretch>
            <a:fillRect/>
          </a:stretch>
        </p:blipFill>
        <p:spPr>
          <a:xfrm>
            <a:off x="7740456" y="19050"/>
            <a:ext cx="4432189" cy="6819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APPLICATION ARCHITECTURE</a:t>
            </a:r>
            <a:endParaRPr lang="en-US" sz="1300" dirty="0"/>
          </a:p>
        </p:txBody>
      </p:sp>
      <p:sp>
        <p:nvSpPr>
          <p:cNvPr id="3" name="Text 1"/>
          <p:cNvSpPr/>
          <p:nvPr/>
        </p:nvSpPr>
        <p:spPr>
          <a:xfrm>
            <a:off x="609585" y="964671"/>
            <a:ext cx="10972526" cy="408880"/>
          </a:xfrm>
          <a:prstGeom prst="rect">
            <a:avLst/>
          </a:prstGeom>
          <a:noFill/>
          <a:ln/>
        </p:spPr>
        <p:txBody>
          <a:bodyPr wrap="none" lIns="0" tIns="0" rIns="0" bIns="0" rtlCol="0" anchor="t"/>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Flask connects the interface to SQLite</a:t>
            </a:r>
            <a:endParaRPr lang="en-US" sz="2800" dirty="0"/>
          </a:p>
        </p:txBody>
      </p:sp>
      <p:sp>
        <p:nvSpPr>
          <p:cNvPr id="4" name="Text 2"/>
          <p:cNvSpPr/>
          <p:nvPr/>
        </p:nvSpPr>
        <p:spPr>
          <a:xfrm>
            <a:off x="609585" y="1653401"/>
            <a:ext cx="10972526" cy="822920"/>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User → Web Interface → Flask Application → SQL Database Operations → SQLite Relational Database. Updated data returns to the interface.</a:t>
            </a:r>
            <a:endParaRPr lang="en-US" sz="2400" dirty="0"/>
          </a:p>
        </p:txBody>
      </p:sp>
      <p:pic>
        <p:nvPicPr>
          <p:cNvPr id="5" name="Image 0" descr="preencoded.png">    </p:cNvPr>
          <p:cNvPicPr>
            <a:picLocks noChangeAspect="1"/>
          </p:cNvPicPr>
          <p:nvPr/>
        </p:nvPicPr>
        <p:blipFill>
          <a:blip r:embed="rId1"/>
          <a:stretch>
            <a:fillRect/>
          </a:stretch>
        </p:blipFill>
        <p:spPr>
          <a:xfrm>
            <a:off x="2856337" y="2737941"/>
            <a:ext cx="6478922" cy="2793901"/>
          </a:xfrm>
          <a:prstGeom prst="rect">
            <a:avLst/>
          </a:prstGeom>
        </p:spPr>
      </p:pic>
      <p:sp>
        <p:nvSpPr>
          <p:cNvPr id="6" name="Text 3"/>
          <p:cNvSpPr/>
          <p:nvPr/>
        </p:nvSpPr>
        <p:spPr>
          <a:xfrm>
            <a:off x="3293933" y="3046770"/>
            <a:ext cx="3562917" cy="224603"/>
          </a:xfrm>
          <a:prstGeom prst="rect">
            <a:avLst/>
          </a:prstGeom>
          <a:noFill/>
          <a:ln/>
        </p:spPr>
        <p:txBody>
          <a:bodyPr wrap="none" lIns="0" tIns="0" rIns="0" bIns="0" rtlCol="0" anchor="t"/>
          <a:lstStyle/>
          <a:p>
            <a:pPr algn="l" indent="0" marL="0">
              <a:lnSpc>
                <a:spcPct val="108000"/>
              </a:lnSpc>
              <a:buNone/>
            </a:pPr>
            <a:r>
              <a:rPr lang="en-US" sz="1350" spc="-7" kern="100" dirty="0">
                <a:solidFill>
                  <a:srgbClr val="FFFFFF"/>
                </a:solidFill>
                <a:latin typeface="Michroma" pitchFamily="34" charset="0"/>
                <a:ea typeface="Michroma" pitchFamily="34" charset="-122"/>
                <a:cs typeface="Michroma" pitchFamily="34" charset="-120"/>
              </a:rPr>
              <a:t>Web Interface</a:t>
            </a:r>
            <a:endParaRPr lang="en-US" sz="1350" dirty="0"/>
          </a:p>
        </p:txBody>
      </p:sp>
      <p:sp>
        <p:nvSpPr>
          <p:cNvPr id="7" name="Text 4"/>
          <p:cNvSpPr/>
          <p:nvPr/>
        </p:nvSpPr>
        <p:spPr>
          <a:xfrm>
            <a:off x="3293933" y="3694664"/>
            <a:ext cx="3562917" cy="224603"/>
          </a:xfrm>
          <a:prstGeom prst="rect">
            <a:avLst/>
          </a:prstGeom>
          <a:noFill/>
          <a:ln/>
        </p:spPr>
        <p:txBody>
          <a:bodyPr wrap="none" lIns="0" tIns="0" rIns="0" bIns="0" rtlCol="0" anchor="t"/>
          <a:lstStyle/>
          <a:p>
            <a:pPr algn="l" indent="0" marL="0">
              <a:lnSpc>
                <a:spcPct val="108000"/>
              </a:lnSpc>
              <a:buNone/>
            </a:pPr>
            <a:r>
              <a:rPr lang="en-US" sz="1350" spc="-7" kern="100" dirty="0">
                <a:solidFill>
                  <a:srgbClr val="FFFFFF"/>
                </a:solidFill>
                <a:latin typeface="Michroma" pitchFamily="34" charset="0"/>
                <a:ea typeface="Michroma" pitchFamily="34" charset="-122"/>
                <a:cs typeface="Michroma" pitchFamily="34" charset="-120"/>
              </a:rPr>
              <a:t>Flask App</a:t>
            </a:r>
            <a:endParaRPr lang="en-US" sz="1350" dirty="0"/>
          </a:p>
        </p:txBody>
      </p:sp>
      <p:sp>
        <p:nvSpPr>
          <p:cNvPr id="8" name="Text 5"/>
          <p:cNvSpPr/>
          <p:nvPr/>
        </p:nvSpPr>
        <p:spPr>
          <a:xfrm>
            <a:off x="3293933" y="4336078"/>
            <a:ext cx="3562917" cy="224603"/>
          </a:xfrm>
          <a:prstGeom prst="rect">
            <a:avLst/>
          </a:prstGeom>
          <a:noFill/>
          <a:ln/>
        </p:spPr>
        <p:txBody>
          <a:bodyPr wrap="none" lIns="0" tIns="0" rIns="0" bIns="0" rtlCol="0" anchor="t"/>
          <a:lstStyle/>
          <a:p>
            <a:pPr algn="l" indent="0" marL="0">
              <a:lnSpc>
                <a:spcPct val="108000"/>
              </a:lnSpc>
              <a:buNone/>
            </a:pPr>
            <a:r>
              <a:rPr lang="en-US" sz="1350" spc="-7" kern="100" dirty="0">
                <a:solidFill>
                  <a:srgbClr val="FFFFFF"/>
                </a:solidFill>
                <a:latin typeface="Michroma" pitchFamily="34" charset="0"/>
                <a:ea typeface="Michroma" pitchFamily="34" charset="-122"/>
                <a:cs typeface="Michroma" pitchFamily="34" charset="-120"/>
              </a:rPr>
              <a:t>SQL Operations</a:t>
            </a:r>
            <a:endParaRPr lang="en-US" sz="1350" dirty="0"/>
          </a:p>
        </p:txBody>
      </p:sp>
      <p:sp>
        <p:nvSpPr>
          <p:cNvPr id="9" name="Text 6"/>
          <p:cNvSpPr/>
          <p:nvPr/>
        </p:nvSpPr>
        <p:spPr>
          <a:xfrm>
            <a:off x="3293933" y="4977492"/>
            <a:ext cx="3562917" cy="224603"/>
          </a:xfrm>
          <a:prstGeom prst="rect">
            <a:avLst/>
          </a:prstGeom>
          <a:noFill/>
          <a:ln/>
        </p:spPr>
        <p:txBody>
          <a:bodyPr wrap="none" lIns="0" tIns="0" rIns="0" bIns="0" rtlCol="0" anchor="t"/>
          <a:lstStyle/>
          <a:p>
            <a:pPr algn="l" indent="0" marL="0">
              <a:lnSpc>
                <a:spcPct val="108000"/>
              </a:lnSpc>
              <a:buNone/>
            </a:pPr>
            <a:r>
              <a:rPr lang="en-US" sz="1350" spc="-7" kern="100" dirty="0">
                <a:solidFill>
                  <a:srgbClr val="FFFFFF"/>
                </a:solidFill>
                <a:latin typeface="Michroma" pitchFamily="34" charset="0"/>
                <a:ea typeface="Michroma" pitchFamily="34" charset="-122"/>
                <a:cs typeface="Michroma" pitchFamily="34" charset="-120"/>
              </a:rPr>
              <a:t>SQLite DB</a:t>
            </a:r>
            <a:endParaRPr lang="en-US" sz="1350" dirty="0"/>
          </a:p>
        </p:txBody>
      </p:sp>
      <p:sp>
        <p:nvSpPr>
          <p:cNvPr id="10" name="Text 7"/>
          <p:cNvSpPr/>
          <p:nvPr/>
        </p:nvSpPr>
        <p:spPr>
          <a:xfrm>
            <a:off x="609585" y="5664557"/>
            <a:ext cx="11582110" cy="231080"/>
          </a:xfrm>
          <a:prstGeom prst="rect">
            <a:avLst/>
          </a:prstGeom>
          <a:noFill/>
          <a:ln/>
        </p:spPr>
        <p:txBody>
          <a:bodyPr wrap="none" lIns="0" tIns="0" rIns="0" bIns="0" rtlCol="0" anchor="t"/>
          <a:lstStyle/>
          <a:p>
            <a:pPr algn="l" indent="0" marL="0">
              <a:lnSpc>
                <a:spcPct val="108000"/>
              </a:lnSpc>
              <a:buNone/>
            </a:pPr>
            <a:r>
              <a:rPr lang="en-US" sz="1400" spc="14" kern="100" dirty="0">
                <a:solidFill>
                  <a:srgbClr val="4A4F5E"/>
                </a:solidFill>
                <a:latin typeface="IBM Plex Sans" pitchFamily="34" charset="0"/>
                <a:ea typeface="IBM Plex Sans" pitchFamily="34" charset="-122"/>
                <a:cs typeface="IBM Plex Sans" pitchFamily="34" charset="-120"/>
              </a:rPr>
              <a:t>Architecture diagram · implementation details to be verified against the supplied application.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RELATIONAL DESIGN</a:t>
            </a:r>
            <a:endParaRPr lang="en-US" sz="1300" dirty="0"/>
          </a:p>
        </p:txBody>
      </p:sp>
      <p:sp>
        <p:nvSpPr>
          <p:cNvPr id="3" name="Text 1"/>
          <p:cNvSpPr/>
          <p:nvPr/>
        </p:nvSpPr>
        <p:spPr>
          <a:xfrm>
            <a:off x="609585" y="964671"/>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The relational design links scheduling facts through verified keys</a:t>
            </a:r>
            <a:endParaRPr lang="en-US" sz="2800" dirty="0"/>
          </a:p>
        </p:txBody>
      </p:sp>
      <p:sp>
        <p:nvSpPr>
          <p:cNvPr id="4" name="Shape 2"/>
          <p:cNvSpPr/>
          <p:nvPr/>
        </p:nvSpPr>
        <p:spPr>
          <a:xfrm>
            <a:off x="609585" y="2050852"/>
            <a:ext cx="5958631" cy="1556941"/>
          </a:xfrm>
          <a:prstGeom prst="roundRect">
            <a:avLst>
              <a:gd name="adj" fmla="val 9788"/>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5" name="Text 3"/>
          <p:cNvSpPr/>
          <p:nvPr/>
        </p:nvSpPr>
        <p:spPr>
          <a:xfrm>
            <a:off x="857229" y="2306122"/>
            <a:ext cx="5710988"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REFERENCE ENTITIES</a:t>
            </a:r>
            <a:endParaRPr lang="en-US" sz="1300" dirty="0"/>
          </a:p>
        </p:txBody>
      </p:sp>
      <p:sp>
        <p:nvSpPr>
          <p:cNvPr id="6" name="Text 4"/>
          <p:cNvSpPr/>
          <p:nvPr/>
        </p:nvSpPr>
        <p:spPr>
          <a:xfrm>
            <a:off x="857229" y="2683867"/>
            <a:ext cx="5463344" cy="685800"/>
          </a:xfrm>
          <a:prstGeom prst="rect">
            <a:avLst/>
          </a:prstGeom>
          <a:noFill/>
          <a:ln/>
        </p:spPr>
        <p:txBody>
          <a:bodyPr wrap="square" lIns="0" tIns="0" rIns="0" bIns="0" rtlCol="0" anchor="t">
            <a:normAutofit/>
          </a:bodyPr>
          <a:lstStyle/>
          <a:p>
            <a:pPr algn="l" indent="0" marL="0">
              <a:lnSpc>
                <a:spcPct val="112000"/>
              </a:lnSpc>
              <a:buNone/>
            </a:pPr>
            <a:r>
              <a:rPr lang="en-US" sz="2000" dirty="0">
                <a:solidFill>
                  <a:srgbClr val="2A3140"/>
                </a:solidFill>
                <a:latin typeface="IBM Plex Sans" pitchFamily="34" charset="0"/>
                <a:ea typeface="IBM Plex Sans" pitchFamily="34" charset="-122"/>
                <a:cs typeface="IBM Plex Sans" pitchFamily="34" charset="-120"/>
              </a:rPr>
              <a:t>Departments · Programmes · Courses · Sections · Faculty · Workload norms · Rooms · Time slots</a:t>
            </a:r>
            <a:endParaRPr lang="en-US" sz="2000" dirty="0"/>
          </a:p>
        </p:txBody>
      </p:sp>
      <p:sp>
        <p:nvSpPr>
          <p:cNvPr id="7" name="Shape 5"/>
          <p:cNvSpPr/>
          <p:nvPr/>
        </p:nvSpPr>
        <p:spPr>
          <a:xfrm>
            <a:off x="7025305" y="2050852"/>
            <a:ext cx="4556805" cy="1556941"/>
          </a:xfrm>
          <a:prstGeom prst="roundRect">
            <a:avLst>
              <a:gd name="adj" fmla="val 9788"/>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8" name="Text 6"/>
          <p:cNvSpPr/>
          <p:nvPr/>
        </p:nvSpPr>
        <p:spPr>
          <a:xfrm>
            <a:off x="7272949" y="2306122"/>
            <a:ext cx="430916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OPERATIONAL ENTITIES</a:t>
            </a:r>
            <a:endParaRPr lang="en-US" sz="1300" dirty="0"/>
          </a:p>
        </p:txBody>
      </p:sp>
      <p:sp>
        <p:nvSpPr>
          <p:cNvPr id="9" name="Text 7"/>
          <p:cNvSpPr/>
          <p:nvPr/>
        </p:nvSpPr>
        <p:spPr>
          <a:xfrm>
            <a:off x="7272949" y="2683867"/>
            <a:ext cx="4061517" cy="685800"/>
          </a:xfrm>
          <a:prstGeom prst="rect">
            <a:avLst/>
          </a:prstGeom>
          <a:noFill/>
          <a:ln/>
        </p:spPr>
        <p:txBody>
          <a:bodyPr wrap="square" lIns="0" tIns="0" rIns="0" bIns="0" rtlCol="0" anchor="t">
            <a:normAutofit/>
          </a:bodyPr>
          <a:lstStyle/>
          <a:p>
            <a:pPr algn="l" indent="0" marL="0">
              <a:lnSpc>
                <a:spcPct val="112000"/>
              </a:lnSpc>
              <a:buNone/>
            </a:pPr>
            <a:r>
              <a:rPr lang="en-US" sz="2000" dirty="0">
                <a:solidFill>
                  <a:srgbClr val="2A3140"/>
                </a:solidFill>
                <a:latin typeface="IBM Plex Sans" pitchFamily="34" charset="0"/>
                <a:ea typeface="IBM Plex Sans" pitchFamily="34" charset="-122"/>
                <a:cs typeface="IBM Plex Sans" pitchFamily="34" charset="-120"/>
              </a:rPr>
              <a:t>Assignments · Timetable entries · Substitutions</a:t>
            </a:r>
            <a:endParaRPr lang="en-US" sz="2000" dirty="0"/>
          </a:p>
        </p:txBody>
      </p:sp>
      <p:sp>
        <p:nvSpPr>
          <p:cNvPr id="10" name="Text 8"/>
          <p:cNvSpPr/>
          <p:nvPr/>
        </p:nvSpPr>
        <p:spPr>
          <a:xfrm>
            <a:off x="609585" y="3892272"/>
            <a:ext cx="5333867" cy="1234380"/>
          </a:xfrm>
          <a:prstGeom prst="rect">
            <a:avLst/>
          </a:prstGeom>
          <a:noFill/>
          <a:ln/>
        </p:spPr>
        <p:txBody>
          <a:bodyPr wrap="square" lIns="0" tIns="0" rIns="0" bIns="0" rtlCol="0" anchor="t">
            <a:normAutofit/>
          </a:bodyPr>
          <a:lstStyle/>
          <a:p>
            <a:pPr algn="l" indent="0" marL="0">
              <a:lnSpc>
                <a:spcPct val="113000"/>
              </a:lnSpc>
              <a:buNone/>
            </a:pPr>
            <a:r>
              <a:rPr lang="en-US" sz="2400" b="1" dirty="0">
                <a:solidFill>
                  <a:srgbClr val="2A3140"/>
                </a:solidFill>
                <a:latin typeface="IBM Plex Sans Bold" pitchFamily="34" charset="0"/>
                <a:ea typeface="IBM Plex Sans Bold" pitchFamily="34" charset="-122"/>
                <a:cs typeface="IBM Plex Sans Bold" pitchFamily="34" charset="-120"/>
              </a:rPr>
              <a:t>Relationship focus:</a:t>
            </a:r>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 faculty–course assignments; timetable links to rooms and time slots.</a:t>
            </a:r>
            <a:endParaRPr lang="en-US" sz="2400" dirty="0"/>
          </a:p>
        </p:txBody>
      </p:sp>
      <p:sp>
        <p:nvSpPr>
          <p:cNvPr id="11" name="Text 9"/>
          <p:cNvSpPr/>
          <p:nvPr/>
        </p:nvSpPr>
        <p:spPr>
          <a:xfrm>
            <a:off x="6248244" y="3892272"/>
            <a:ext cx="5333867" cy="1234380"/>
          </a:xfrm>
          <a:prstGeom prst="rect">
            <a:avLst/>
          </a:prstGeom>
          <a:noFill/>
          <a:ln/>
        </p:spPr>
        <p:txBody>
          <a:bodyPr wrap="square" lIns="0" tIns="0" rIns="0" bIns="0" rtlCol="0" anchor="t">
            <a:normAutofit/>
          </a:bodyPr>
          <a:lstStyle/>
          <a:p>
            <a:pPr algn="l" indent="0" marL="0">
              <a:lnSpc>
                <a:spcPct val="113000"/>
              </a:lnSpc>
              <a:buNone/>
            </a:pPr>
            <a:r>
              <a:rPr lang="en-US" sz="2400" b="1" dirty="0">
                <a:solidFill>
                  <a:srgbClr val="2A3140"/>
                </a:solidFill>
                <a:latin typeface="IBM Plex Sans Bold" pitchFamily="34" charset="0"/>
                <a:ea typeface="IBM Plex Sans Bold" pitchFamily="34" charset="-122"/>
                <a:cs typeface="IBM Plex Sans Bold" pitchFamily="34" charset="-120"/>
              </a:rPr>
              <a:t>Schema check:</a:t>
            </a:r>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 verify primary keys, foreign keys, and referential integrity against the actual schema.</a:t>
            </a:r>
            <a:endParaRPr lang="en-US" sz="2400" dirty="0"/>
          </a:p>
        </p:txBody>
      </p:sp>
      <p:sp>
        <p:nvSpPr>
          <p:cNvPr id="12" name="Text 10"/>
          <p:cNvSpPr/>
          <p:nvPr/>
        </p:nvSpPr>
        <p:spPr>
          <a:xfrm>
            <a:off x="609585" y="5397163"/>
            <a:ext cx="11582110" cy="231080"/>
          </a:xfrm>
          <a:prstGeom prst="rect">
            <a:avLst/>
          </a:prstGeom>
          <a:noFill/>
          <a:ln/>
        </p:spPr>
        <p:txBody>
          <a:bodyPr wrap="none" lIns="0" tIns="0" rIns="0" bIns="0" rtlCol="0" anchor="t"/>
          <a:lstStyle/>
          <a:p>
            <a:pPr algn="l" indent="0" marL="0">
              <a:lnSpc>
                <a:spcPct val="108000"/>
              </a:lnSpc>
              <a:buNone/>
            </a:pPr>
            <a:r>
              <a:rPr lang="en-US" sz="1400" spc="14" kern="100" dirty="0">
                <a:solidFill>
                  <a:srgbClr val="4A4F5E"/>
                </a:solidFill>
                <a:latin typeface="IBM Plex Sans" pitchFamily="34" charset="0"/>
                <a:ea typeface="IBM Plex Sans" pitchFamily="34" charset="-122"/>
                <a:cs typeface="IBM Plex Sans" pitchFamily="34" charset="-120"/>
              </a:rPr>
              <a:t>Proposed design — complete ER diagram, columns, and cardinalities: To be verified.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NORMALIZATION</a:t>
            </a:r>
            <a:endParaRPr lang="en-US" sz="1300" dirty="0"/>
          </a:p>
        </p:txBody>
      </p:sp>
      <p:sp>
        <p:nvSpPr>
          <p:cNvPr id="3" name="Text 1"/>
          <p:cNvSpPr/>
          <p:nvPr/>
        </p:nvSpPr>
        <p:spPr>
          <a:xfrm>
            <a:off x="609585" y="964671"/>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Normalization separates facts that change for different reasons</a:t>
            </a:r>
            <a:endParaRPr lang="en-US" sz="2800" dirty="0"/>
          </a:p>
        </p:txBody>
      </p:sp>
      <p:sp>
        <p:nvSpPr>
          <p:cNvPr id="4" name="Shape 2"/>
          <p:cNvSpPr/>
          <p:nvPr/>
        </p:nvSpPr>
        <p:spPr>
          <a:xfrm>
            <a:off x="609585" y="2050852"/>
            <a:ext cx="5257668" cy="4193977"/>
          </a:xfrm>
          <a:prstGeom prst="rect">
            <a:avLst/>
          </a:prstGeom>
          <a:solidFill>
            <a:srgbClr val="E7E3AC"/>
          </a:solidFill>
          <a:ln/>
        </p:spPr>
      </p:sp>
      <p:sp>
        <p:nvSpPr>
          <p:cNvPr id="5" name="Text 3"/>
          <p:cNvSpPr/>
          <p:nvPr/>
        </p:nvSpPr>
        <p:spPr>
          <a:xfrm>
            <a:off x="838179" y="2292151"/>
            <a:ext cx="480048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1NF</a:t>
            </a:r>
            <a:endParaRPr lang="en-US" sz="2000" dirty="0"/>
          </a:p>
        </p:txBody>
      </p:sp>
      <p:sp>
        <p:nvSpPr>
          <p:cNvPr id="6" name="Text 4"/>
          <p:cNvSpPr/>
          <p:nvPr/>
        </p:nvSpPr>
        <p:spPr>
          <a:xfrm>
            <a:off x="838179" y="2837299"/>
            <a:ext cx="5029074" cy="308570"/>
          </a:xfrm>
          <a:prstGeom prst="rect">
            <a:avLst/>
          </a:prstGeom>
          <a:noFill/>
          <a:ln/>
        </p:spPr>
        <p:txBody>
          <a:bodyPr wrap="none" lIns="0" tIns="0" rIns="0" bIns="0" rtlCol="0" anchor="t"/>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Atomic values and no repeating groups.</a:t>
            </a:r>
            <a:endParaRPr lang="en-US" sz="1800" dirty="0"/>
          </a:p>
        </p:txBody>
      </p:sp>
      <p:sp>
        <p:nvSpPr>
          <p:cNvPr id="7" name="Text 5"/>
          <p:cNvSpPr/>
          <p:nvPr/>
        </p:nvSpPr>
        <p:spPr>
          <a:xfrm>
            <a:off x="838179" y="3423047"/>
            <a:ext cx="480048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2NF</a:t>
            </a:r>
            <a:endParaRPr lang="en-US" sz="2000" dirty="0"/>
          </a:p>
        </p:txBody>
      </p:sp>
      <p:sp>
        <p:nvSpPr>
          <p:cNvPr id="8" name="Text 6"/>
          <p:cNvSpPr/>
          <p:nvPr/>
        </p:nvSpPr>
        <p:spPr>
          <a:xfrm>
            <a:off x="838179" y="3968194"/>
            <a:ext cx="4800480"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Remove partial dependencies on composite candidate keys.</a:t>
            </a:r>
            <a:endParaRPr lang="en-US" sz="1800" dirty="0"/>
          </a:p>
        </p:txBody>
      </p:sp>
      <p:sp>
        <p:nvSpPr>
          <p:cNvPr id="9" name="Text 7"/>
          <p:cNvSpPr/>
          <p:nvPr/>
        </p:nvSpPr>
        <p:spPr>
          <a:xfrm>
            <a:off x="838179" y="4862512"/>
            <a:ext cx="480048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3NF</a:t>
            </a:r>
            <a:endParaRPr lang="en-US" sz="2000" dirty="0"/>
          </a:p>
        </p:txBody>
      </p:sp>
      <p:sp>
        <p:nvSpPr>
          <p:cNvPr id="10" name="Text 8"/>
          <p:cNvSpPr/>
          <p:nvPr/>
        </p:nvSpPr>
        <p:spPr>
          <a:xfrm>
            <a:off x="838179" y="5407660"/>
            <a:ext cx="4800480"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Remove transitive dependencies among non-key attributes.</a:t>
            </a:r>
            <a:endParaRPr lang="en-US" sz="1800" dirty="0"/>
          </a:p>
        </p:txBody>
      </p:sp>
      <p:sp>
        <p:nvSpPr>
          <p:cNvPr id="11" name="Shape 9"/>
          <p:cNvSpPr/>
          <p:nvPr/>
        </p:nvSpPr>
        <p:spPr>
          <a:xfrm>
            <a:off x="6324442" y="2050852"/>
            <a:ext cx="5257668" cy="4193977"/>
          </a:xfrm>
          <a:prstGeom prst="rect">
            <a:avLst/>
          </a:prstGeom>
          <a:solidFill>
            <a:srgbClr val="E7E3AC"/>
          </a:solidFill>
          <a:ln/>
        </p:spPr>
      </p:sp>
      <p:sp>
        <p:nvSpPr>
          <p:cNvPr id="12" name="Text 10"/>
          <p:cNvSpPr/>
          <p:nvPr/>
        </p:nvSpPr>
        <p:spPr>
          <a:xfrm>
            <a:off x="6553036" y="2287072"/>
            <a:ext cx="5029074"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ILLUSTRATIVE EXAMPLE</a:t>
            </a:r>
            <a:endParaRPr lang="en-US" sz="1300" dirty="0"/>
          </a:p>
        </p:txBody>
      </p:sp>
      <p:sp>
        <p:nvSpPr>
          <p:cNvPr id="13" name="Text 11"/>
          <p:cNvSpPr/>
          <p:nvPr/>
        </p:nvSpPr>
        <p:spPr>
          <a:xfrm>
            <a:off x="6553036" y="2614017"/>
            <a:ext cx="480048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Assignment facts</a:t>
            </a:r>
            <a:endParaRPr lang="en-US" sz="2000" dirty="0"/>
          </a:p>
        </p:txBody>
      </p:sp>
      <p:sp>
        <p:nvSpPr>
          <p:cNvPr id="14" name="Text 12"/>
          <p:cNvSpPr/>
          <p:nvPr/>
        </p:nvSpPr>
        <p:spPr>
          <a:xfrm>
            <a:off x="6553036" y="3159165"/>
            <a:ext cx="480048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Faculty, course, section, and workload details should not be repeated in every timetable record.</a:t>
            </a:r>
            <a:endParaRPr lang="en-US" sz="1800" dirty="0"/>
          </a:p>
        </p:txBody>
      </p:sp>
      <p:sp>
        <p:nvSpPr>
          <p:cNvPr id="15" name="Text 13"/>
          <p:cNvSpPr/>
          <p:nvPr/>
        </p:nvSpPr>
        <p:spPr>
          <a:xfrm>
            <a:off x="6553036" y="4261723"/>
            <a:ext cx="5029074"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EVIDENCE STATUS</a:t>
            </a:r>
            <a:endParaRPr lang="en-US" sz="1300" dirty="0"/>
          </a:p>
        </p:txBody>
      </p:sp>
      <p:sp>
        <p:nvSpPr>
          <p:cNvPr id="16" name="Text 14"/>
          <p:cNvSpPr/>
          <p:nvPr/>
        </p:nvSpPr>
        <p:spPr>
          <a:xfrm>
            <a:off x="6553036" y="4638516"/>
            <a:ext cx="480048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Illustrative — verify the example and its functional dependencies against the implemented schema.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DATA INTEGRITY</a:t>
            </a:r>
            <a:endParaRPr lang="en-US" sz="1300" dirty="0"/>
          </a:p>
        </p:txBody>
      </p:sp>
      <p:sp>
        <p:nvSpPr>
          <p:cNvPr id="3" name="Text 1"/>
          <p:cNvSpPr/>
          <p:nvPr/>
        </p:nvSpPr>
        <p:spPr>
          <a:xfrm>
            <a:off x="609585" y="964671"/>
            <a:ext cx="10972526" cy="408880"/>
          </a:xfrm>
          <a:prstGeom prst="rect">
            <a:avLst/>
          </a:prstGeom>
          <a:noFill/>
          <a:ln/>
        </p:spPr>
        <p:txBody>
          <a:bodyPr wrap="none" lIns="0" tIns="0" rIns="0" bIns="0" rtlCol="0" anchor="t"/>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Constraints make invalid states harder to store</a:t>
            </a:r>
            <a:endParaRPr lang="en-US" sz="2800" dirty="0"/>
          </a:p>
        </p:txBody>
      </p:sp>
      <p:sp>
        <p:nvSpPr>
          <p:cNvPr id="4" name="Shape 2"/>
          <p:cNvSpPr/>
          <p:nvPr/>
        </p:nvSpPr>
        <p:spPr>
          <a:xfrm>
            <a:off x="609585" y="1641971"/>
            <a:ext cx="4622684" cy="2725241"/>
          </a:xfrm>
          <a:prstGeom prst="roundRect">
            <a:avLst>
              <a:gd name="adj" fmla="val 559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5" name="Text 3"/>
          <p:cNvSpPr/>
          <p:nvPr/>
        </p:nvSpPr>
        <p:spPr>
          <a:xfrm>
            <a:off x="857229" y="1795641"/>
            <a:ext cx="437504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ILLUSTRATIVE SQL</a:t>
            </a:r>
            <a:endParaRPr lang="en-US" sz="1300" dirty="0"/>
          </a:p>
        </p:txBody>
      </p:sp>
      <p:sp>
        <p:nvSpPr>
          <p:cNvPr id="6" name="Text 4"/>
          <p:cNvSpPr/>
          <p:nvPr/>
        </p:nvSpPr>
        <p:spPr>
          <a:xfrm>
            <a:off x="857229" y="2175292"/>
            <a:ext cx="4127397" cy="2057301"/>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CREATE TABLE faculty (</a:t>
            </a:r>
            <a:endParaRPr lang="en-US" sz="2400" dirty="0"/>
          </a:p>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faculty_id INTEGER PRIMARY KEY,</a:t>
            </a:r>
            <a:endParaRPr lang="en-US" sz="2400" dirty="0"/>
          </a:p>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name TEXT NOT NULL</a:t>
            </a:r>
            <a:endParaRPr lang="en-US" sz="2400" dirty="0"/>
          </a:p>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a:t>
            </a:r>
            <a:endParaRPr lang="en-US" sz="2400" dirty="0"/>
          </a:p>
        </p:txBody>
      </p:sp>
      <p:sp>
        <p:nvSpPr>
          <p:cNvPr id="7" name="Shape 5"/>
          <p:cNvSpPr/>
          <p:nvPr/>
        </p:nvSpPr>
        <p:spPr>
          <a:xfrm>
            <a:off x="5536962" y="1641971"/>
            <a:ext cx="6045148" cy="2725241"/>
          </a:xfrm>
          <a:prstGeom prst="roundRect">
            <a:avLst>
              <a:gd name="adj" fmla="val 559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8" name="Text 6"/>
          <p:cNvSpPr/>
          <p:nvPr/>
        </p:nvSpPr>
        <p:spPr>
          <a:xfrm>
            <a:off x="5784606" y="1795641"/>
            <a:ext cx="5797504"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CONSTRAINTS TO VERIFY</a:t>
            </a:r>
            <a:endParaRPr lang="en-US" sz="1300" dirty="0"/>
          </a:p>
        </p:txBody>
      </p:sp>
      <p:pic>
        <p:nvPicPr>
          <p:cNvPr id="9" name="Image 0" descr="preencoded.png">    </p:cNvPr>
          <p:cNvPicPr>
            <a:picLocks noChangeAspect="1"/>
          </p:cNvPicPr>
          <p:nvPr/>
        </p:nvPicPr>
        <p:blipFill>
          <a:blip r:embed="rId1"/>
          <a:stretch>
            <a:fillRect/>
          </a:stretch>
        </p:blipFill>
        <p:spPr>
          <a:xfrm>
            <a:off x="5784606" y="2163862"/>
            <a:ext cx="609585" cy="609600"/>
          </a:xfrm>
          <a:prstGeom prst="rect">
            <a:avLst/>
          </a:prstGeom>
        </p:spPr>
      </p:pic>
      <p:sp>
        <p:nvSpPr>
          <p:cNvPr id="10" name="Text 7"/>
          <p:cNvSpPr/>
          <p:nvPr/>
        </p:nvSpPr>
        <p:spPr>
          <a:xfrm>
            <a:off x="5784606" y="2963962"/>
            <a:ext cx="1273143" cy="660400"/>
          </a:xfrm>
          <a:prstGeom prst="rect">
            <a:avLst/>
          </a:prstGeom>
          <a:noFill/>
          <a:ln/>
        </p:spPr>
        <p:txBody>
          <a:bodyPr wrap="square" lIns="0" tIns="0" rIns="0" bIns="0" rtlCol="0" anchor="t">
            <a:normAutofit/>
          </a:bodyPr>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PRIMARY KEY</a:t>
            </a:r>
            <a:endParaRPr lang="en-US" sz="2000" dirty="0"/>
          </a:p>
        </p:txBody>
      </p:sp>
      <p:pic>
        <p:nvPicPr>
          <p:cNvPr id="11" name="Image 1" descr="preencoded.png">    </p:cNvPr>
          <p:cNvPicPr>
            <a:picLocks noChangeAspect="1"/>
          </p:cNvPicPr>
          <p:nvPr/>
        </p:nvPicPr>
        <p:blipFill>
          <a:blip r:embed="rId2"/>
          <a:stretch>
            <a:fillRect/>
          </a:stretch>
        </p:blipFill>
        <p:spPr>
          <a:xfrm>
            <a:off x="7210145" y="2163862"/>
            <a:ext cx="609585" cy="609600"/>
          </a:xfrm>
          <a:prstGeom prst="rect">
            <a:avLst/>
          </a:prstGeom>
        </p:spPr>
      </p:pic>
      <p:sp>
        <p:nvSpPr>
          <p:cNvPr id="12" name="Text 8"/>
          <p:cNvSpPr/>
          <p:nvPr/>
        </p:nvSpPr>
        <p:spPr>
          <a:xfrm>
            <a:off x="7210145" y="2963962"/>
            <a:ext cx="1273143" cy="660400"/>
          </a:xfrm>
          <a:prstGeom prst="rect">
            <a:avLst/>
          </a:prstGeom>
          <a:noFill/>
          <a:ln/>
        </p:spPr>
        <p:txBody>
          <a:bodyPr wrap="square" lIns="0" tIns="0" rIns="0" bIns="0" rtlCol="0" anchor="t">
            <a:normAutofit/>
          </a:bodyPr>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FOREIGN KEY</a:t>
            </a:r>
            <a:endParaRPr lang="en-US" sz="2000" dirty="0"/>
          </a:p>
        </p:txBody>
      </p:sp>
      <p:pic>
        <p:nvPicPr>
          <p:cNvPr id="13" name="Image 2" descr="preencoded.png">    </p:cNvPr>
          <p:cNvPicPr>
            <a:picLocks noChangeAspect="1"/>
          </p:cNvPicPr>
          <p:nvPr/>
        </p:nvPicPr>
        <p:blipFill>
          <a:blip r:embed="rId3"/>
          <a:stretch>
            <a:fillRect/>
          </a:stretch>
        </p:blipFill>
        <p:spPr>
          <a:xfrm>
            <a:off x="8635685" y="2163862"/>
            <a:ext cx="609585" cy="609600"/>
          </a:xfrm>
          <a:prstGeom prst="rect">
            <a:avLst/>
          </a:prstGeom>
        </p:spPr>
      </p:pic>
      <p:sp>
        <p:nvSpPr>
          <p:cNvPr id="14" name="Text 9"/>
          <p:cNvSpPr/>
          <p:nvPr/>
        </p:nvSpPr>
        <p:spPr>
          <a:xfrm>
            <a:off x="8635685" y="2963962"/>
            <a:ext cx="1273143"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NOT NULL</a:t>
            </a:r>
            <a:endParaRPr lang="en-US" sz="2000" dirty="0"/>
          </a:p>
        </p:txBody>
      </p:sp>
      <p:pic>
        <p:nvPicPr>
          <p:cNvPr id="15" name="Image 3" descr="preencoded.png">    </p:cNvPr>
          <p:cNvPicPr>
            <a:picLocks noChangeAspect="1"/>
          </p:cNvPicPr>
          <p:nvPr/>
        </p:nvPicPr>
        <p:blipFill>
          <a:blip r:embed="rId4"/>
          <a:stretch>
            <a:fillRect/>
          </a:stretch>
        </p:blipFill>
        <p:spPr>
          <a:xfrm>
            <a:off x="10061224" y="2163862"/>
            <a:ext cx="609585" cy="609600"/>
          </a:xfrm>
          <a:prstGeom prst="rect">
            <a:avLst/>
          </a:prstGeom>
        </p:spPr>
      </p:pic>
      <p:sp>
        <p:nvSpPr>
          <p:cNvPr id="16" name="Text 10"/>
          <p:cNvSpPr/>
          <p:nvPr/>
        </p:nvSpPr>
        <p:spPr>
          <a:xfrm>
            <a:off x="10061224" y="2963962"/>
            <a:ext cx="1273242"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UNIQUE</a:t>
            </a:r>
            <a:endParaRPr lang="en-US" sz="2000" dirty="0"/>
          </a:p>
        </p:txBody>
      </p:sp>
      <p:sp>
        <p:nvSpPr>
          <p:cNvPr id="17" name="Text 11"/>
          <p:cNvSpPr/>
          <p:nvPr/>
        </p:nvSpPr>
        <p:spPr>
          <a:xfrm>
            <a:off x="609585" y="4647883"/>
            <a:ext cx="355591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INSERT</a:t>
            </a:r>
            <a:endParaRPr lang="en-US" sz="1300" dirty="0"/>
          </a:p>
        </p:txBody>
      </p:sp>
      <p:sp>
        <p:nvSpPr>
          <p:cNvPr id="18" name="Text 12"/>
          <p:cNvSpPr/>
          <p:nvPr/>
        </p:nvSpPr>
        <p:spPr>
          <a:xfrm>
            <a:off x="609585" y="5027533"/>
            <a:ext cx="3555911" cy="411460"/>
          </a:xfrm>
          <a:prstGeom prst="rect">
            <a:avLst/>
          </a:prstGeom>
          <a:noFill/>
          <a:ln/>
        </p:spPr>
        <p:txBody>
          <a:bodyPr wrap="none" lIns="0" tIns="0" rIns="0" bIns="0" rtlCol="0" anchor="t"/>
          <a:lstStyle/>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INSERT INTO faculty ...;</a:t>
            </a:r>
            <a:endParaRPr lang="en-US" sz="2400" dirty="0"/>
          </a:p>
        </p:txBody>
      </p:sp>
      <p:sp>
        <p:nvSpPr>
          <p:cNvPr id="19" name="Text 13"/>
          <p:cNvSpPr/>
          <p:nvPr/>
        </p:nvSpPr>
        <p:spPr>
          <a:xfrm>
            <a:off x="4317892" y="4647883"/>
            <a:ext cx="355591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SELECT</a:t>
            </a:r>
            <a:endParaRPr lang="en-US" sz="1300" dirty="0"/>
          </a:p>
        </p:txBody>
      </p:sp>
      <p:sp>
        <p:nvSpPr>
          <p:cNvPr id="20" name="Text 14"/>
          <p:cNvSpPr/>
          <p:nvPr/>
        </p:nvSpPr>
        <p:spPr>
          <a:xfrm>
            <a:off x="4317892" y="5027533"/>
            <a:ext cx="3555911" cy="411460"/>
          </a:xfrm>
          <a:prstGeom prst="rect">
            <a:avLst/>
          </a:prstGeom>
          <a:noFill/>
          <a:ln/>
        </p:spPr>
        <p:txBody>
          <a:bodyPr wrap="none" lIns="0" tIns="0" rIns="0" bIns="0" rtlCol="0" anchor="t"/>
          <a:lstStyle/>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SELECT ... FROM faculty;</a:t>
            </a:r>
            <a:endParaRPr lang="en-US" sz="2400" dirty="0"/>
          </a:p>
        </p:txBody>
      </p:sp>
      <p:sp>
        <p:nvSpPr>
          <p:cNvPr id="21" name="Text 15"/>
          <p:cNvSpPr/>
          <p:nvPr/>
        </p:nvSpPr>
        <p:spPr>
          <a:xfrm>
            <a:off x="8026199" y="4647883"/>
            <a:ext cx="355591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UPDATE</a:t>
            </a:r>
            <a:endParaRPr lang="en-US" sz="1300" dirty="0"/>
          </a:p>
        </p:txBody>
      </p:sp>
      <p:sp>
        <p:nvSpPr>
          <p:cNvPr id="22" name="Text 16"/>
          <p:cNvSpPr/>
          <p:nvPr/>
        </p:nvSpPr>
        <p:spPr>
          <a:xfrm>
            <a:off x="8026199" y="5027533"/>
            <a:ext cx="3555911" cy="411460"/>
          </a:xfrm>
          <a:prstGeom prst="rect">
            <a:avLst/>
          </a:prstGeom>
          <a:noFill/>
          <a:ln/>
        </p:spPr>
        <p:txBody>
          <a:bodyPr wrap="none" lIns="0" tIns="0" rIns="0" bIns="0" rtlCol="0" anchor="t"/>
          <a:lstStyle/>
          <a:p>
            <a:pPr algn="l" indent="0" marL="0">
              <a:lnSpc>
                <a:spcPct val="113000"/>
              </a:lnSpc>
              <a:buNone/>
            </a:pPr>
            <a:r>
              <a:rPr lang="en-US" sz="2400" dirty="0">
                <a:solidFill>
                  <a:srgbClr val="2A3140"/>
                </a:solidFill>
                <a:latin typeface="IBM Plex Sans" pitchFamily="34" charset="0"/>
                <a:ea typeface="IBM Plex Sans" pitchFamily="34" charset="-122"/>
                <a:cs typeface="IBM Plex Sans" pitchFamily="34" charset="-120"/>
              </a:rPr>
              <a:t>UPDATE faculty ...;</a:t>
            </a:r>
            <a:endParaRPr lang="en-US" sz="2400" dirty="0"/>
          </a:p>
        </p:txBody>
      </p:sp>
      <p:sp>
        <p:nvSpPr>
          <p:cNvPr id="23" name="Text 17"/>
          <p:cNvSpPr/>
          <p:nvPr/>
        </p:nvSpPr>
        <p:spPr>
          <a:xfrm>
            <a:off x="609585" y="5709503"/>
            <a:ext cx="11582110" cy="231080"/>
          </a:xfrm>
          <a:prstGeom prst="rect">
            <a:avLst/>
          </a:prstGeom>
          <a:noFill/>
          <a:ln/>
        </p:spPr>
        <p:txBody>
          <a:bodyPr wrap="none" lIns="0" tIns="0" rIns="0" bIns="0" rtlCol="0" anchor="t"/>
          <a:lstStyle/>
          <a:p>
            <a:pPr algn="l" indent="0" marL="0">
              <a:lnSpc>
                <a:spcPct val="108000"/>
              </a:lnSpc>
              <a:buNone/>
            </a:pPr>
            <a:r>
              <a:rPr lang="en-US" sz="1400" spc="14" kern="100" dirty="0">
                <a:solidFill>
                  <a:srgbClr val="4A4F5E"/>
                </a:solidFill>
                <a:latin typeface="IBM Plex Sans" pitchFamily="34" charset="0"/>
                <a:ea typeface="IBM Plex Sans" pitchFamily="34" charset="-122"/>
                <a:cs typeface="IBM Plex Sans" pitchFamily="34" charset="-120"/>
              </a:rPr>
              <a:t>SQL snippets are illustrative until implementation files are supplied and tested.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REPORTING QUERIES</a:t>
            </a:r>
            <a:endParaRPr lang="en-US" sz="1300" dirty="0"/>
          </a:p>
        </p:txBody>
      </p:sp>
      <p:sp>
        <p:nvSpPr>
          <p:cNvPr id="3" name="Text 1"/>
          <p:cNvSpPr/>
          <p:nvPr/>
        </p:nvSpPr>
        <p:spPr>
          <a:xfrm>
            <a:off x="609585" y="964671"/>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Queries turn relational data into workload and timetable reports</a:t>
            </a:r>
            <a:endParaRPr lang="en-US" sz="2800" dirty="0"/>
          </a:p>
        </p:txBody>
      </p:sp>
      <p:sp>
        <p:nvSpPr>
          <p:cNvPr id="4" name="Text 2"/>
          <p:cNvSpPr/>
          <p:nvPr/>
        </p:nvSpPr>
        <p:spPr>
          <a:xfrm>
            <a:off x="609585" y="2059741"/>
            <a:ext cx="11582110" cy="231080"/>
          </a:xfrm>
          <a:prstGeom prst="rect">
            <a:avLst/>
          </a:prstGeom>
          <a:noFill/>
          <a:ln/>
        </p:spPr>
        <p:txBody>
          <a:bodyPr wrap="none" lIns="0" tIns="0" rIns="0" bIns="0" rtlCol="0" anchor="t"/>
          <a:lstStyle/>
          <a:p>
            <a:pPr algn="l" indent="0" marL="0">
              <a:lnSpc>
                <a:spcPct val="108000"/>
              </a:lnSpc>
              <a:buNone/>
            </a:pPr>
            <a:r>
              <a:rPr lang="en-US" sz="1400" spc="14" kern="100" dirty="0">
                <a:solidFill>
                  <a:srgbClr val="4A4F5E"/>
                </a:solidFill>
                <a:latin typeface="IBM Plex Sans" pitchFamily="34" charset="0"/>
                <a:ea typeface="IBM Plex Sans" pitchFamily="34" charset="-122"/>
                <a:cs typeface="IBM Plex Sans" pitchFamily="34" charset="-120"/>
              </a:rPr>
              <a:t>Illustrative only: verify table and column names against the supplied schema, and test every query.</a:t>
            </a:r>
            <a:endParaRPr lang="en-US" sz="1400" dirty="0"/>
          </a:p>
        </p:txBody>
      </p:sp>
      <p:sp>
        <p:nvSpPr>
          <p:cNvPr id="5" name="Shape 3"/>
          <p:cNvSpPr/>
          <p:nvPr/>
        </p:nvSpPr>
        <p:spPr>
          <a:xfrm>
            <a:off x="609585" y="2554982"/>
            <a:ext cx="3454314" cy="3693418"/>
          </a:xfrm>
          <a:prstGeom prst="roundRect">
            <a:avLst>
              <a:gd name="adj" fmla="val 441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6" name="Text 4"/>
          <p:cNvSpPr/>
          <p:nvPr/>
        </p:nvSpPr>
        <p:spPr>
          <a:xfrm>
            <a:off x="857229" y="2810252"/>
            <a:ext cx="320667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JOIN</a:t>
            </a:r>
            <a:endParaRPr lang="en-US" sz="1300" dirty="0"/>
          </a:p>
        </p:txBody>
      </p:sp>
      <p:sp>
        <p:nvSpPr>
          <p:cNvPr id="7" name="Text 5"/>
          <p:cNvSpPr/>
          <p:nvPr/>
        </p:nvSpPr>
        <p:spPr>
          <a:xfrm>
            <a:off x="857229" y="3137198"/>
            <a:ext cx="2959026" cy="660400"/>
          </a:xfrm>
          <a:prstGeom prst="rect">
            <a:avLst/>
          </a:prstGeom>
          <a:noFill/>
          <a:ln/>
        </p:spPr>
        <p:txBody>
          <a:bodyPr wrap="square" lIns="0" tIns="0" rIns="0" bIns="0" rtlCol="0" anchor="t">
            <a:normAutofit/>
          </a:bodyPr>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Faculty and course context</a:t>
            </a:r>
            <a:endParaRPr lang="en-US" sz="2000" dirty="0"/>
          </a:p>
        </p:txBody>
      </p:sp>
      <p:sp>
        <p:nvSpPr>
          <p:cNvPr id="8" name="Text 6"/>
          <p:cNvSpPr/>
          <p:nvPr/>
        </p:nvSpPr>
        <p:spPr>
          <a:xfrm>
            <a:off x="857229" y="4012545"/>
            <a:ext cx="2959026"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JOIN faculty with assignments; JOIN courses with assignments.</a:t>
            </a:r>
            <a:endParaRPr lang="en-US" sz="1800" dirty="0"/>
          </a:p>
        </p:txBody>
      </p:sp>
      <p:sp>
        <p:nvSpPr>
          <p:cNvPr id="9" name="Shape 7"/>
          <p:cNvSpPr/>
          <p:nvPr/>
        </p:nvSpPr>
        <p:spPr>
          <a:xfrm>
            <a:off x="4368691" y="2554982"/>
            <a:ext cx="3454314" cy="3693418"/>
          </a:xfrm>
          <a:prstGeom prst="roundRect">
            <a:avLst>
              <a:gd name="adj" fmla="val 441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10" name="Text 8"/>
          <p:cNvSpPr/>
          <p:nvPr/>
        </p:nvSpPr>
        <p:spPr>
          <a:xfrm>
            <a:off x="4616335" y="2810252"/>
            <a:ext cx="320667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GROUP BY · HAVING</a:t>
            </a:r>
            <a:endParaRPr lang="en-US" sz="1300" dirty="0"/>
          </a:p>
        </p:txBody>
      </p:sp>
      <p:sp>
        <p:nvSpPr>
          <p:cNvPr id="11" name="Text 9"/>
          <p:cNvSpPr/>
          <p:nvPr/>
        </p:nvSpPr>
        <p:spPr>
          <a:xfrm>
            <a:off x="4616335" y="3137198"/>
            <a:ext cx="2959026"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Workload review</a:t>
            </a:r>
            <a:endParaRPr lang="en-US" sz="2000" dirty="0"/>
          </a:p>
        </p:txBody>
      </p:sp>
      <p:sp>
        <p:nvSpPr>
          <p:cNvPr id="12" name="Text 10"/>
          <p:cNvSpPr/>
          <p:nvPr/>
        </p:nvSpPr>
        <p:spPr>
          <a:xfrm>
            <a:off x="4616335" y="3682345"/>
            <a:ext cx="2959026" cy="123428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GROUP BY to calculate teaching workload; HAVING to identify workload above a threshold.</a:t>
            </a:r>
            <a:endParaRPr lang="en-US" sz="1800" dirty="0"/>
          </a:p>
        </p:txBody>
      </p:sp>
      <p:sp>
        <p:nvSpPr>
          <p:cNvPr id="13" name="Shape 11"/>
          <p:cNvSpPr/>
          <p:nvPr/>
        </p:nvSpPr>
        <p:spPr>
          <a:xfrm>
            <a:off x="8127797" y="2554982"/>
            <a:ext cx="3454314" cy="3693418"/>
          </a:xfrm>
          <a:prstGeom prst="roundRect">
            <a:avLst>
              <a:gd name="adj" fmla="val 441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14" name="Text 12"/>
          <p:cNvSpPr/>
          <p:nvPr/>
        </p:nvSpPr>
        <p:spPr>
          <a:xfrm>
            <a:off x="8375440" y="2810252"/>
            <a:ext cx="320667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A3140"/>
                </a:solidFill>
                <a:latin typeface="Azeret Mono Medium" pitchFamily="34" charset="0"/>
                <a:ea typeface="Azeret Mono Medium" pitchFamily="34" charset="-122"/>
                <a:cs typeface="Azeret Mono Medium" pitchFamily="34" charset="-120"/>
              </a:rPr>
              <a:t>TIMETABLE</a:t>
            </a:r>
            <a:endParaRPr lang="en-US" sz="1300" dirty="0"/>
          </a:p>
        </p:txBody>
      </p:sp>
      <p:sp>
        <p:nvSpPr>
          <p:cNvPr id="15" name="Text 13"/>
          <p:cNvSpPr/>
          <p:nvPr/>
        </p:nvSpPr>
        <p:spPr>
          <a:xfrm>
            <a:off x="8375440" y="3137198"/>
            <a:ext cx="2959026"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2A3140"/>
                </a:solidFill>
                <a:latin typeface="IBM Plex Sans Medium" pitchFamily="34" charset="0"/>
                <a:ea typeface="IBM Plex Sans Medium" pitchFamily="34" charset="-122"/>
                <a:cs typeface="IBM Plex Sans Medium" pitchFamily="34" charset="-120"/>
              </a:rPr>
              <a:t>Scheduled classes</a:t>
            </a:r>
            <a:endParaRPr lang="en-US" sz="2000" dirty="0"/>
          </a:p>
        </p:txBody>
      </p:sp>
      <p:sp>
        <p:nvSpPr>
          <p:cNvPr id="16" name="Text 14"/>
          <p:cNvSpPr/>
          <p:nvPr/>
        </p:nvSpPr>
        <p:spPr>
          <a:xfrm>
            <a:off x="8375440" y="3682345"/>
            <a:ext cx="2959026"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List scheduled classes by day and time; detect potential conflicts.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81372"/>
          </a:xfrm>
          <a:prstGeom prst="rect">
            <a:avLst/>
          </a:prstGeom>
          <a:noFill/>
          <a:ln/>
        </p:spPr>
        <p:txBody>
          <a:bodyPr wrap="none" lIns="0" tIns="0" rIns="0" bIns="0" rtlCol="0" anchor="t"/>
          <a:lstStyle/>
          <a:p>
            <a:pPr algn="l" indent="0" marL="0">
              <a:lnSpc>
                <a:spcPct val="100000"/>
              </a:lnSpc>
              <a:buNone/>
            </a:pPr>
            <a:r>
              <a:rPr lang="en-US" sz="1200" spc="71" kern="100" dirty="0">
                <a:solidFill>
                  <a:srgbClr val="194F8E"/>
                </a:solidFill>
                <a:latin typeface="Azeret Mono Medium" pitchFamily="34" charset="0"/>
                <a:ea typeface="Azeret Mono Medium" pitchFamily="34" charset="-122"/>
                <a:cs typeface="Azeret Mono Medium" pitchFamily="34" charset="-120"/>
              </a:rPr>
              <a:t>APPLICATION WORKFLOW</a:t>
            </a:r>
            <a:endParaRPr lang="en-US" sz="1200" dirty="0"/>
          </a:p>
        </p:txBody>
      </p:sp>
      <p:sp>
        <p:nvSpPr>
          <p:cNvPr id="3" name="Text 1"/>
          <p:cNvSpPr/>
          <p:nvPr/>
        </p:nvSpPr>
        <p:spPr>
          <a:xfrm>
            <a:off x="609585" y="926982"/>
            <a:ext cx="10972526" cy="749102"/>
          </a:xfrm>
          <a:prstGeom prst="rect">
            <a:avLst/>
          </a:prstGeom>
          <a:noFill/>
          <a:ln/>
        </p:spPr>
        <p:txBody>
          <a:bodyPr wrap="square" lIns="0" tIns="0" rIns="0" bIns="0" rtlCol="0" anchor="t">
            <a:normAutofit/>
          </a:bodyPr>
          <a:lstStyle/>
          <a:p>
            <a:pPr algn="l" indent="0" marL="0">
              <a:lnSpc>
                <a:spcPct val="96000"/>
              </a:lnSpc>
              <a:buNone/>
            </a:pPr>
            <a:r>
              <a:rPr lang="en-US" sz="2550" spc="-13" kern="100" dirty="0">
                <a:solidFill>
                  <a:srgbClr val="14284B"/>
                </a:solidFill>
                <a:latin typeface="Michroma" pitchFamily="34" charset="0"/>
                <a:ea typeface="Michroma" pitchFamily="34" charset="-122"/>
                <a:cs typeface="Michroma" pitchFamily="34" charset="-120"/>
              </a:rPr>
              <a:t>The application turns assignments into validated timetable entries</a:t>
            </a:r>
            <a:endParaRPr lang="en-US" sz="2550" dirty="0"/>
          </a:p>
        </p:txBody>
      </p:sp>
      <p:sp>
        <p:nvSpPr>
          <p:cNvPr id="4" name="Text 2"/>
          <p:cNvSpPr/>
          <p:nvPr/>
        </p:nvSpPr>
        <p:spPr>
          <a:xfrm>
            <a:off x="609585" y="1911556"/>
            <a:ext cx="10972526" cy="1083171"/>
          </a:xfrm>
          <a:prstGeom prst="rect">
            <a:avLst/>
          </a:prstGeom>
          <a:noFill/>
          <a:ln/>
        </p:spPr>
        <p:txBody>
          <a:bodyPr wrap="square" lIns="0" tIns="0" rIns="0" bIns="0" rtlCol="0" anchor="t">
            <a:normAutofit/>
          </a:bodyPr>
          <a:lstStyle/>
          <a:p>
            <a:pPr algn="l" indent="0" marL="0">
              <a:lnSpc>
                <a:spcPct val="108000"/>
              </a:lnSpc>
              <a:buNone/>
            </a:pPr>
            <a:r>
              <a:rPr lang="en-US" sz="2200" dirty="0">
                <a:solidFill>
                  <a:srgbClr val="2A3140"/>
                </a:solidFill>
                <a:latin typeface="IBM Plex Sans" pitchFamily="34" charset="0"/>
                <a:ea typeface="IBM Plex Sans" pitchFamily="34" charset="-122"/>
                <a:cs typeface="IBM Plex Sans" pitchFamily="34" charset="-120"/>
              </a:rPr>
              <a:t>Dashboard and faculty overview show information stored in SQLite. The workflow links stored academic records to a timetable entry only after the required information is present.</a:t>
            </a:r>
            <a:endParaRPr lang="en-US" sz="2200" dirty="0"/>
          </a:p>
        </p:txBody>
      </p:sp>
      <p:sp>
        <p:nvSpPr>
          <p:cNvPr id="5" name="Text 3"/>
          <p:cNvSpPr/>
          <p:nvPr/>
        </p:nvSpPr>
        <p:spPr>
          <a:xfrm>
            <a:off x="609585" y="3223359"/>
            <a:ext cx="5333867" cy="362942"/>
          </a:xfrm>
          <a:prstGeom prst="rect">
            <a:avLst/>
          </a:prstGeom>
          <a:noFill/>
          <a:ln/>
        </p:spPr>
        <p:txBody>
          <a:bodyPr wrap="none" lIns="0" tIns="0" rIns="0" bIns="0" rtlCol="0" anchor="t"/>
          <a:lstStyle/>
          <a:p>
            <a:pPr algn="l" indent="0" marL="0">
              <a:lnSpc>
                <a:spcPct val="108000"/>
              </a:lnSpc>
              <a:buNone/>
            </a:pPr>
            <a:r>
              <a:rPr lang="en-US" sz="2200" spc="-11" kern="100" dirty="0">
                <a:solidFill>
                  <a:srgbClr val="2A3140"/>
                </a:solidFill>
                <a:latin typeface="IBM Plex Sans Medium" pitchFamily="34" charset="0"/>
                <a:ea typeface="IBM Plex Sans Medium" pitchFamily="34" charset="-122"/>
                <a:cs typeface="IBM Plex Sans Medium" pitchFamily="34" charset="-120"/>
              </a:rPr>
              <a:t>Workflow</a:t>
            </a:r>
            <a:endParaRPr lang="en-US" sz="2200" dirty="0"/>
          </a:p>
        </p:txBody>
      </p:sp>
      <p:sp>
        <p:nvSpPr>
          <p:cNvPr id="6" name="Text 4"/>
          <p:cNvSpPr/>
          <p:nvPr/>
        </p:nvSpPr>
        <p:spPr>
          <a:xfrm>
            <a:off x="609585" y="3756025"/>
            <a:ext cx="5333867" cy="1996976"/>
          </a:xfrm>
          <a:prstGeom prst="rect">
            <a:avLst/>
          </a:prstGeom>
          <a:noFill/>
          <a:ln/>
        </p:spPr>
        <p:txBody>
          <a:bodyPr wrap="square" lIns="0" tIns="0" rIns="0" bIns="0" rtlCol="0" anchor="t">
            <a:normAutofit/>
          </a:bodyPr>
          <a:lstStyle/>
          <a:p>
            <a:pPr algn="l" marL="447040" indent="-447040">
              <a:lnSpc>
                <a:spcPct val="108000"/>
              </a:lnSpc>
              <a:buSzPct val="100000"/>
              <a:buFont typeface="+mj-lt"/>
              <a:buAutoNum type="arabicPeriod" startAt="1"/>
            </a:pPr>
            <a:r>
              <a:rPr lang="en-US" sz="2200" dirty="0">
                <a:solidFill>
                  <a:srgbClr val="2A3140"/>
                </a:solidFill>
                <a:latin typeface="IBM Plex Sans" pitchFamily="34" charset="0"/>
                <a:ea typeface="IBM Plex Sans" pitchFamily="34" charset="-122"/>
                <a:cs typeface="IBM Plex Sans" pitchFamily="34" charset="-120"/>
              </a:rPr>
              <a:t>Register faculty and courses</a:t>
            </a:r>
            <a:endParaRPr lang="en-US" sz="2200" dirty="0"/>
          </a:p>
          <a:p>
            <a:pPr algn="l" marL="447040" indent="-447040">
              <a:lnSpc>
                <a:spcPct val="108000"/>
              </a:lnSpc>
              <a:buSzPct val="100000"/>
              <a:buFont typeface="+mj-lt"/>
              <a:buAutoNum type="arabicPeriod" startAt="2"/>
            </a:pPr>
            <a:r>
              <a:rPr lang="en-US" sz="2200" dirty="0">
                <a:solidFill>
                  <a:srgbClr val="2A3140"/>
                </a:solidFill>
                <a:latin typeface="IBM Plex Sans" pitchFamily="34" charset="0"/>
                <a:ea typeface="IBM Plex Sans" pitchFamily="34" charset="-122"/>
                <a:cs typeface="IBM Plex Sans" pitchFamily="34" charset="-120"/>
              </a:rPr>
              <a:t>Link faculty to courses and sections</a:t>
            </a:r>
            <a:endParaRPr lang="en-US" sz="2200" dirty="0"/>
          </a:p>
          <a:p>
            <a:pPr algn="l" marL="447040" indent="-447040">
              <a:lnSpc>
                <a:spcPct val="108000"/>
              </a:lnSpc>
              <a:buSzPct val="100000"/>
              <a:buFont typeface="+mj-lt"/>
              <a:buAutoNum type="arabicPeriod" startAt="3"/>
            </a:pPr>
            <a:r>
              <a:rPr lang="en-US" sz="2200" dirty="0">
                <a:solidFill>
                  <a:srgbClr val="2A3140"/>
                </a:solidFill>
                <a:latin typeface="IBM Plex Sans" pitchFamily="34" charset="0"/>
                <a:ea typeface="IBM Plex Sans" pitchFamily="34" charset="-122"/>
                <a:cs typeface="IBM Plex Sans" pitchFamily="34" charset="-120"/>
              </a:rPr>
              <a:t>Assign weekly hours, room, and time slot</a:t>
            </a:r>
            <a:endParaRPr lang="en-US" sz="2200" dirty="0"/>
          </a:p>
          <a:p>
            <a:pPr algn="l" marL="447040" indent="-447040">
              <a:lnSpc>
                <a:spcPct val="108000"/>
              </a:lnSpc>
              <a:buSzPct val="100000"/>
              <a:buFont typeface="+mj-lt"/>
              <a:buAutoNum type="arabicPeriod" startAt="4"/>
            </a:pPr>
            <a:r>
              <a:rPr lang="en-US" sz="2200" dirty="0">
                <a:solidFill>
                  <a:srgbClr val="2A3140"/>
                </a:solidFill>
                <a:latin typeface="IBM Plex Sans" pitchFamily="34" charset="0"/>
                <a:ea typeface="IBM Plex Sans" pitchFamily="34" charset="-122"/>
                <a:cs typeface="IBM Plex Sans" pitchFamily="34" charset="-120"/>
              </a:rPr>
              <a:t>Save after validation</a:t>
            </a:r>
            <a:endParaRPr lang="en-US" sz="2200" dirty="0"/>
          </a:p>
        </p:txBody>
      </p:sp>
      <p:sp>
        <p:nvSpPr>
          <p:cNvPr id="7" name="Text 5"/>
          <p:cNvSpPr/>
          <p:nvPr/>
        </p:nvSpPr>
        <p:spPr>
          <a:xfrm>
            <a:off x="6248244" y="3223359"/>
            <a:ext cx="5333867" cy="362942"/>
          </a:xfrm>
          <a:prstGeom prst="rect">
            <a:avLst/>
          </a:prstGeom>
          <a:noFill/>
          <a:ln/>
        </p:spPr>
        <p:txBody>
          <a:bodyPr wrap="none" lIns="0" tIns="0" rIns="0" bIns="0" rtlCol="0" anchor="t"/>
          <a:lstStyle/>
          <a:p>
            <a:pPr algn="l" indent="0" marL="0">
              <a:lnSpc>
                <a:spcPct val="108000"/>
              </a:lnSpc>
              <a:buNone/>
            </a:pPr>
            <a:r>
              <a:rPr lang="en-US" sz="2200" spc="-11" kern="100" dirty="0">
                <a:solidFill>
                  <a:srgbClr val="2A3140"/>
                </a:solidFill>
                <a:latin typeface="IBM Plex Sans Medium" pitchFamily="34" charset="0"/>
                <a:ea typeface="IBM Plex Sans Medium" pitchFamily="34" charset="-122"/>
                <a:cs typeface="IBM Plex Sans Medium" pitchFamily="34" charset="-120"/>
              </a:rPr>
              <a:t>Screenshot placeholders</a:t>
            </a:r>
            <a:endParaRPr lang="en-US" sz="2200" dirty="0"/>
          </a:p>
        </p:txBody>
      </p:sp>
      <p:sp>
        <p:nvSpPr>
          <p:cNvPr id="8" name="Shape 6"/>
          <p:cNvSpPr/>
          <p:nvPr/>
        </p:nvSpPr>
        <p:spPr>
          <a:xfrm>
            <a:off x="6248244" y="3756025"/>
            <a:ext cx="2590735" cy="1082973"/>
          </a:xfrm>
          <a:prstGeom prst="roundRect">
            <a:avLst>
              <a:gd name="adj" fmla="val 1407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9" name="Text 7"/>
          <p:cNvSpPr/>
          <p:nvPr/>
        </p:nvSpPr>
        <p:spPr>
          <a:xfrm>
            <a:off x="6495887" y="4003675"/>
            <a:ext cx="2343091" cy="181372"/>
          </a:xfrm>
          <a:prstGeom prst="rect">
            <a:avLst/>
          </a:prstGeom>
          <a:noFill/>
          <a:ln/>
        </p:spPr>
        <p:txBody>
          <a:bodyPr wrap="none" lIns="0" tIns="0" rIns="0" bIns="0" rtlCol="0" anchor="t"/>
          <a:lstStyle/>
          <a:p>
            <a:pPr algn="l" indent="0" marL="0">
              <a:lnSpc>
                <a:spcPct val="100000"/>
              </a:lnSpc>
              <a:buNone/>
            </a:pPr>
            <a:r>
              <a:rPr lang="en-US" sz="1200" spc="71" kern="100" dirty="0">
                <a:solidFill>
                  <a:srgbClr val="2A3140"/>
                </a:solidFill>
                <a:latin typeface="Azeret Mono Medium" pitchFamily="34" charset="0"/>
                <a:ea typeface="Azeret Mono Medium" pitchFamily="34" charset="-122"/>
                <a:cs typeface="Azeret Mono Medium" pitchFamily="34" charset="-120"/>
              </a:rPr>
              <a:t>PLACEHOLDER</a:t>
            </a:r>
            <a:endParaRPr lang="en-US" sz="1200" dirty="0"/>
          </a:p>
        </p:txBody>
      </p:sp>
      <p:sp>
        <p:nvSpPr>
          <p:cNvPr id="10" name="Text 8"/>
          <p:cNvSpPr/>
          <p:nvPr/>
        </p:nvSpPr>
        <p:spPr>
          <a:xfrm>
            <a:off x="6495887" y="4299033"/>
            <a:ext cx="2095448" cy="302419"/>
          </a:xfrm>
          <a:prstGeom prst="rect">
            <a:avLst/>
          </a:prstGeom>
          <a:noFill/>
          <a:ln/>
        </p:spPr>
        <p:txBody>
          <a:bodyPr wrap="none" lIns="0" tIns="0" rIns="0" bIns="0" rtlCol="0" anchor="t"/>
          <a:lstStyle/>
          <a:p>
            <a:pPr algn="l" indent="0" marL="0">
              <a:lnSpc>
                <a:spcPct val="108000"/>
              </a:lnSpc>
              <a:buNone/>
            </a:pPr>
            <a:r>
              <a:rPr lang="en-US" sz="1850" spc="-9" kern="100" dirty="0">
                <a:solidFill>
                  <a:srgbClr val="2A3140"/>
                </a:solidFill>
                <a:latin typeface="IBM Plex Sans Medium" pitchFamily="34" charset="0"/>
                <a:ea typeface="IBM Plex Sans Medium" pitchFamily="34" charset="-122"/>
                <a:cs typeface="IBM Plex Sans Medium" pitchFamily="34" charset="-120"/>
              </a:rPr>
              <a:t>Faculty view</a:t>
            </a:r>
            <a:endParaRPr lang="en-US" sz="1850" dirty="0"/>
          </a:p>
        </p:txBody>
      </p:sp>
      <p:sp>
        <p:nvSpPr>
          <p:cNvPr id="11" name="Shape 9"/>
          <p:cNvSpPr/>
          <p:nvPr/>
        </p:nvSpPr>
        <p:spPr>
          <a:xfrm>
            <a:off x="8991375" y="3756025"/>
            <a:ext cx="2590735" cy="1082973"/>
          </a:xfrm>
          <a:prstGeom prst="roundRect">
            <a:avLst>
              <a:gd name="adj" fmla="val 1407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12" name="Text 10"/>
          <p:cNvSpPr/>
          <p:nvPr/>
        </p:nvSpPr>
        <p:spPr>
          <a:xfrm>
            <a:off x="9239019" y="4003675"/>
            <a:ext cx="2343091" cy="181372"/>
          </a:xfrm>
          <a:prstGeom prst="rect">
            <a:avLst/>
          </a:prstGeom>
          <a:noFill/>
          <a:ln/>
        </p:spPr>
        <p:txBody>
          <a:bodyPr wrap="none" lIns="0" tIns="0" rIns="0" bIns="0" rtlCol="0" anchor="t"/>
          <a:lstStyle/>
          <a:p>
            <a:pPr algn="l" indent="0" marL="0">
              <a:lnSpc>
                <a:spcPct val="100000"/>
              </a:lnSpc>
              <a:buNone/>
            </a:pPr>
            <a:r>
              <a:rPr lang="en-US" sz="1200" spc="71" kern="100" dirty="0">
                <a:solidFill>
                  <a:srgbClr val="2A3140"/>
                </a:solidFill>
                <a:latin typeface="Azeret Mono Medium" pitchFamily="34" charset="0"/>
                <a:ea typeface="Azeret Mono Medium" pitchFamily="34" charset="-122"/>
                <a:cs typeface="Azeret Mono Medium" pitchFamily="34" charset="-120"/>
              </a:rPr>
              <a:t>PLACEHOLDER</a:t>
            </a:r>
            <a:endParaRPr lang="en-US" sz="1200" dirty="0"/>
          </a:p>
        </p:txBody>
      </p:sp>
      <p:sp>
        <p:nvSpPr>
          <p:cNvPr id="13" name="Text 11"/>
          <p:cNvSpPr/>
          <p:nvPr/>
        </p:nvSpPr>
        <p:spPr>
          <a:xfrm>
            <a:off x="9239019" y="4299033"/>
            <a:ext cx="2095448" cy="302419"/>
          </a:xfrm>
          <a:prstGeom prst="rect">
            <a:avLst/>
          </a:prstGeom>
          <a:noFill/>
          <a:ln/>
        </p:spPr>
        <p:txBody>
          <a:bodyPr wrap="none" lIns="0" tIns="0" rIns="0" bIns="0" rtlCol="0" anchor="t"/>
          <a:lstStyle/>
          <a:p>
            <a:pPr algn="l" indent="0" marL="0">
              <a:lnSpc>
                <a:spcPct val="108000"/>
              </a:lnSpc>
              <a:buNone/>
            </a:pPr>
            <a:r>
              <a:rPr lang="en-US" sz="1850" spc="-9" kern="100" dirty="0">
                <a:solidFill>
                  <a:srgbClr val="2A3140"/>
                </a:solidFill>
                <a:latin typeface="IBM Plex Sans Medium" pitchFamily="34" charset="0"/>
                <a:ea typeface="IBM Plex Sans Medium" pitchFamily="34" charset="-122"/>
                <a:cs typeface="IBM Plex Sans Medium" pitchFamily="34" charset="-120"/>
              </a:rPr>
              <a:t>Course view</a:t>
            </a:r>
            <a:endParaRPr lang="en-US" sz="1850" dirty="0"/>
          </a:p>
        </p:txBody>
      </p:sp>
      <p:sp>
        <p:nvSpPr>
          <p:cNvPr id="14" name="Shape 12"/>
          <p:cNvSpPr/>
          <p:nvPr/>
        </p:nvSpPr>
        <p:spPr>
          <a:xfrm>
            <a:off x="6248244" y="4991398"/>
            <a:ext cx="2590735" cy="1082973"/>
          </a:xfrm>
          <a:prstGeom prst="roundRect">
            <a:avLst>
              <a:gd name="adj" fmla="val 1407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15" name="Text 13"/>
          <p:cNvSpPr/>
          <p:nvPr/>
        </p:nvSpPr>
        <p:spPr>
          <a:xfrm>
            <a:off x="6495887" y="5239048"/>
            <a:ext cx="2343091" cy="181372"/>
          </a:xfrm>
          <a:prstGeom prst="rect">
            <a:avLst/>
          </a:prstGeom>
          <a:noFill/>
          <a:ln/>
        </p:spPr>
        <p:txBody>
          <a:bodyPr wrap="none" lIns="0" tIns="0" rIns="0" bIns="0" rtlCol="0" anchor="t"/>
          <a:lstStyle/>
          <a:p>
            <a:pPr algn="l" indent="0" marL="0">
              <a:lnSpc>
                <a:spcPct val="100000"/>
              </a:lnSpc>
              <a:buNone/>
            </a:pPr>
            <a:r>
              <a:rPr lang="en-US" sz="1200" spc="71" kern="100" dirty="0">
                <a:solidFill>
                  <a:srgbClr val="2A3140"/>
                </a:solidFill>
                <a:latin typeface="Azeret Mono Medium" pitchFamily="34" charset="0"/>
                <a:ea typeface="Azeret Mono Medium" pitchFamily="34" charset="-122"/>
                <a:cs typeface="Azeret Mono Medium" pitchFamily="34" charset="-120"/>
              </a:rPr>
              <a:t>PLACEHOLDER</a:t>
            </a:r>
            <a:endParaRPr lang="en-US" sz="1200" dirty="0"/>
          </a:p>
        </p:txBody>
      </p:sp>
      <p:sp>
        <p:nvSpPr>
          <p:cNvPr id="16" name="Text 14"/>
          <p:cNvSpPr/>
          <p:nvPr/>
        </p:nvSpPr>
        <p:spPr>
          <a:xfrm>
            <a:off x="6495887" y="5534405"/>
            <a:ext cx="2095448" cy="302419"/>
          </a:xfrm>
          <a:prstGeom prst="rect">
            <a:avLst/>
          </a:prstGeom>
          <a:noFill/>
          <a:ln/>
        </p:spPr>
        <p:txBody>
          <a:bodyPr wrap="none" lIns="0" tIns="0" rIns="0" bIns="0" rtlCol="0" anchor="t"/>
          <a:lstStyle/>
          <a:p>
            <a:pPr algn="l" indent="0" marL="0">
              <a:lnSpc>
                <a:spcPct val="108000"/>
              </a:lnSpc>
              <a:buNone/>
            </a:pPr>
            <a:r>
              <a:rPr lang="en-US" sz="1850" spc="-9" kern="100" dirty="0">
                <a:solidFill>
                  <a:srgbClr val="2A3140"/>
                </a:solidFill>
                <a:latin typeface="IBM Plex Sans Medium" pitchFamily="34" charset="0"/>
                <a:ea typeface="IBM Plex Sans Medium" pitchFamily="34" charset="-122"/>
                <a:cs typeface="IBM Plex Sans Medium" pitchFamily="34" charset="-120"/>
              </a:rPr>
              <a:t>Assignment view</a:t>
            </a:r>
            <a:endParaRPr lang="en-US" sz="1850" dirty="0"/>
          </a:p>
        </p:txBody>
      </p:sp>
      <p:sp>
        <p:nvSpPr>
          <p:cNvPr id="17" name="Shape 15"/>
          <p:cNvSpPr/>
          <p:nvPr/>
        </p:nvSpPr>
        <p:spPr>
          <a:xfrm>
            <a:off x="8991375" y="4991398"/>
            <a:ext cx="2590735" cy="1082973"/>
          </a:xfrm>
          <a:prstGeom prst="roundRect">
            <a:avLst>
              <a:gd name="adj" fmla="val 14072"/>
            </a:avLst>
          </a:prstGeom>
          <a:solidFill>
            <a:srgbClr val="E7E3AC"/>
          </a:solidFill>
          <a:ln w="19050">
            <a:solidFill>
              <a:srgbClr val="A85A2C"/>
            </a:solidFill>
            <a:prstDash val="solid"/>
          </a:ln>
          <a:effectLst>
            <a:outerShdw sx="100000" sy="100000" kx="0" ky="0" algn="bl" rotWithShape="0" blurRad="201930" dist="127" dir="16200000">
              <a:srgbClr val="a85a2c">
                <a:alpha val="40000"/>
              </a:srgbClr>
            </a:outerShdw>
          </a:effectLst>
        </p:spPr>
      </p:sp>
      <p:sp>
        <p:nvSpPr>
          <p:cNvPr id="18" name="Text 16"/>
          <p:cNvSpPr/>
          <p:nvPr/>
        </p:nvSpPr>
        <p:spPr>
          <a:xfrm>
            <a:off x="9239019" y="5239048"/>
            <a:ext cx="2343091" cy="181372"/>
          </a:xfrm>
          <a:prstGeom prst="rect">
            <a:avLst/>
          </a:prstGeom>
          <a:noFill/>
          <a:ln/>
        </p:spPr>
        <p:txBody>
          <a:bodyPr wrap="none" lIns="0" tIns="0" rIns="0" bIns="0" rtlCol="0" anchor="t"/>
          <a:lstStyle/>
          <a:p>
            <a:pPr algn="l" indent="0" marL="0">
              <a:lnSpc>
                <a:spcPct val="100000"/>
              </a:lnSpc>
              <a:buNone/>
            </a:pPr>
            <a:r>
              <a:rPr lang="en-US" sz="1200" spc="71" kern="100" dirty="0">
                <a:solidFill>
                  <a:srgbClr val="2A3140"/>
                </a:solidFill>
                <a:latin typeface="Azeret Mono Medium" pitchFamily="34" charset="0"/>
                <a:ea typeface="Azeret Mono Medium" pitchFamily="34" charset="-122"/>
                <a:cs typeface="Azeret Mono Medium" pitchFamily="34" charset="-120"/>
              </a:rPr>
              <a:t>PLACEHOLDER</a:t>
            </a:r>
            <a:endParaRPr lang="en-US" sz="1200" dirty="0"/>
          </a:p>
        </p:txBody>
      </p:sp>
      <p:sp>
        <p:nvSpPr>
          <p:cNvPr id="19" name="Text 17"/>
          <p:cNvSpPr/>
          <p:nvPr/>
        </p:nvSpPr>
        <p:spPr>
          <a:xfrm>
            <a:off x="9239019" y="5534405"/>
            <a:ext cx="2095448" cy="302419"/>
          </a:xfrm>
          <a:prstGeom prst="rect">
            <a:avLst/>
          </a:prstGeom>
          <a:noFill/>
          <a:ln/>
        </p:spPr>
        <p:txBody>
          <a:bodyPr wrap="none" lIns="0" tIns="0" rIns="0" bIns="0" rtlCol="0" anchor="t"/>
          <a:lstStyle/>
          <a:p>
            <a:pPr algn="l" indent="0" marL="0">
              <a:lnSpc>
                <a:spcPct val="108000"/>
              </a:lnSpc>
              <a:buNone/>
            </a:pPr>
            <a:r>
              <a:rPr lang="en-US" sz="1850" spc="-9" kern="100" dirty="0">
                <a:solidFill>
                  <a:srgbClr val="2A3140"/>
                </a:solidFill>
                <a:latin typeface="IBM Plex Sans Medium" pitchFamily="34" charset="0"/>
                <a:ea typeface="IBM Plex Sans Medium" pitchFamily="34" charset="-122"/>
                <a:cs typeface="IBM Plex Sans Medium" pitchFamily="34" charset="-120"/>
              </a:rPr>
              <a:t>Timetable view</a:t>
            </a:r>
            <a:endParaRPr lang="en-US" sz="1850" dirty="0"/>
          </a:p>
        </p:txBody>
      </p:sp>
      <p:sp>
        <p:nvSpPr>
          <p:cNvPr id="20" name="Text 18"/>
          <p:cNvSpPr/>
          <p:nvPr/>
        </p:nvSpPr>
        <p:spPr>
          <a:xfrm>
            <a:off x="6248244" y="6232474"/>
            <a:ext cx="5333867" cy="211733"/>
          </a:xfrm>
          <a:prstGeom prst="rect">
            <a:avLst/>
          </a:prstGeom>
          <a:noFill/>
          <a:ln/>
        </p:spPr>
        <p:txBody>
          <a:bodyPr wrap="none" lIns="0" tIns="0" rIns="0" bIns="0" rtlCol="0" anchor="t"/>
          <a:lstStyle/>
          <a:p>
            <a:pPr algn="l" indent="0" marL="0">
              <a:lnSpc>
                <a:spcPct val="108000"/>
              </a:lnSpc>
              <a:buNone/>
            </a:pPr>
            <a:r>
              <a:rPr lang="en-US" sz="1300" spc="13" kern="100" dirty="0">
                <a:solidFill>
                  <a:srgbClr val="4A4F5E"/>
                </a:solidFill>
                <a:latin typeface="IBM Plex Sans" pitchFamily="34" charset="0"/>
                <a:ea typeface="IBM Plex Sans" pitchFamily="34" charset="-122"/>
                <a:cs typeface="IBM Plex Sans" pitchFamily="34" charset="-120"/>
              </a:rPr>
              <a:t>Actual application screenshots to be supplied.</a:t>
            </a:r>
            <a:endParaRPr lang="en-US" sz="1300" dirty="0"/>
          </a:p>
        </p:txBody>
      </p:sp>
      <p:sp>
        <p:nvSpPr>
          <p:cNvPr id="21" name="Text 19"/>
          <p:cNvSpPr/>
          <p:nvPr/>
        </p:nvSpPr>
        <p:spPr>
          <a:xfrm>
            <a:off x="609585" y="6673303"/>
            <a:ext cx="11582110" cy="211733"/>
          </a:xfrm>
          <a:prstGeom prst="rect">
            <a:avLst/>
          </a:prstGeom>
          <a:noFill/>
          <a:ln/>
        </p:spPr>
        <p:txBody>
          <a:bodyPr wrap="none" lIns="0" tIns="0" rIns="0" bIns="0" rtlCol="0" anchor="t"/>
          <a:lstStyle/>
          <a:p>
            <a:pPr algn="l" indent="0" marL="0">
              <a:lnSpc>
                <a:spcPct val="108000"/>
              </a:lnSpc>
              <a:buNone/>
            </a:pPr>
            <a:r>
              <a:rPr lang="en-US" sz="1300" spc="13" kern="100" dirty="0">
                <a:solidFill>
                  <a:srgbClr val="4A4F5E"/>
                </a:solidFill>
                <a:latin typeface="IBM Plex Sans" pitchFamily="34" charset="0"/>
                <a:ea typeface="IBM Plex Sans" pitchFamily="34" charset="-122"/>
                <a:cs typeface="IBM Plex Sans" pitchFamily="34" charset="-120"/>
              </a:rPr>
              <a:t>Screenshot evidence: To be verified. The workflow does not imply automatic course assignment.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7220"/>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194F8E"/>
                </a:solidFill>
                <a:latin typeface="Azeret Mono Medium" pitchFamily="34" charset="0"/>
                <a:ea typeface="Azeret Mono Medium" pitchFamily="34" charset="-122"/>
                <a:cs typeface="Azeret Mono Medium" pitchFamily="34" charset="-120"/>
              </a:rPr>
              <a:t>TESTING EVIDENCE</a:t>
            </a:r>
            <a:endParaRPr lang="en-US" sz="1300" dirty="0"/>
          </a:p>
        </p:txBody>
      </p:sp>
      <p:sp>
        <p:nvSpPr>
          <p:cNvPr id="3" name="Text 1"/>
          <p:cNvSpPr/>
          <p:nvPr/>
        </p:nvSpPr>
        <p:spPr>
          <a:xfrm>
            <a:off x="609585" y="964671"/>
            <a:ext cx="10972526" cy="408880"/>
          </a:xfrm>
          <a:prstGeom prst="rect">
            <a:avLst/>
          </a:prstGeom>
          <a:noFill/>
          <a:ln/>
        </p:spPr>
        <p:txBody>
          <a:bodyPr wrap="none" lIns="0" tIns="0" rIns="0" bIns="0" rtlCol="0" anchor="t"/>
          <a:lstStyle/>
          <a:p>
            <a:pPr algn="l" indent="0" marL="0">
              <a:lnSpc>
                <a:spcPct val="96000"/>
              </a:lnSpc>
              <a:buNone/>
            </a:pPr>
            <a:r>
              <a:rPr lang="en-US" sz="2800" spc="-14" kern="100" dirty="0">
                <a:solidFill>
                  <a:srgbClr val="14284B"/>
                </a:solidFill>
                <a:latin typeface="Michroma" pitchFamily="34" charset="0"/>
                <a:ea typeface="Michroma" pitchFamily="34" charset="-122"/>
                <a:cs typeface="Michroma" pitchFamily="34" charset="-120"/>
              </a:rPr>
              <a:t>Conflict detection is a key validation point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1641971"/>
          <a:ext cx="10972526" cy="914400"/>
        </p:xfrm>
        <a:graphic>
          <a:graphicData uri="http://schemas.openxmlformats.org/drawingml/2006/table">
            <a:tbl>
              <a:tblPr/>
              <a:tblGrid>
                <a:gridCol w="3291698"/>
                <a:gridCol w="2633398"/>
                <a:gridCol w="5047429"/>
              </a:tblGrid>
              <a:tr h="571287">
                <a:tc>
                  <a:txBody>
                    <a:bodyPr/>
                    <a:lstStyle/>
                    <a:p>
                      <a:pPr algn="l" indent="0" marL="0">
                        <a:buNone/>
                      </a:pPr>
                      <a:r>
                        <a:rPr lang="en-US" sz="1800" dirty="0">
                          <a:solidFill>
                            <a:srgbClr val="14284B"/>
                          </a:solidFill>
                          <a:latin typeface="IBM Plex Sans" pitchFamily="34" charset="0"/>
                          <a:ea typeface="IBM Plex Sans" pitchFamily="34" charset="-122"/>
                          <a:cs typeface="IBM Plex Sans" pitchFamily="34" charset="-120"/>
                        </a:rPr>
                        <a:t>Test case</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F1EFBC"/>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14284B"/>
                          </a:solidFill>
                          <a:latin typeface="IBM Plex Sans" pitchFamily="34" charset="0"/>
                          <a:ea typeface="IBM Plex Sans" pitchFamily="34" charset="-122"/>
                          <a:cs typeface="IBM Plex Sans" pitchFamily="34" charset="-120"/>
                        </a:rPr>
                        <a:t>Input or action</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F1EFBC"/>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14284B"/>
                          </a:solidFill>
                          <a:latin typeface="IBM Plex Sans" pitchFamily="34" charset="0"/>
                          <a:ea typeface="IBM Plex Sans" pitchFamily="34" charset="-122"/>
                          <a:cs typeface="IBM Plex Sans" pitchFamily="34" charset="-120"/>
                        </a:rPr>
                        <a:t>Expected result / Actual result</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F1EFBC"/>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r>
              <a:tr h="57128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Add faculty member</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Faculty record is created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r>
              <a:tr h="57128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Register course</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Course record is created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r>
              <a:tr h="57128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Create assignment</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Faculty-course link is stored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r>
              <a:tr h="57128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Schedule class</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Entry is saved after validation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tcPr>
                </a:tc>
              </a:tr>
              <a:tr h="59033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Attempt room conflict</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Conflict is identified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r>
              <a:tr h="590337">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Attempt faculty conflict</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Conflict is identified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C8D8AB"/>
                      </a:solidFill>
                      <a:prstDash val="solid"/>
                      <a:round/>
                      <a:headEnd type="none" w="med" len="med"/>
                      <a:tailEnd type="none" w="med" len="med"/>
                    </a:lnL>
                    <a:lnR w="19050" cap="flat" cmpd="sng" algn="ctr">
                      <a:solidFill>
                        <a:srgbClr val="C8D8AB"/>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C99D6D"/>
                      </a:solidFill>
                      <a:prstDash val="solid"/>
                      <a:round/>
                      <a:headEnd type="none" w="med" len="med"/>
                      <a:tailEnd type="none" w="med" len="med"/>
                    </a:lnB>
                    <a:solidFill>
                      <a:srgbClr val="0B6E5F">
                        <a:alpha val="18000"/>
                      </a:srgbClr>
                    </a:solidFill>
                  </a:tcPr>
                </a:tc>
              </a:tr>
              <a:tr h="552238">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Check workload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F1EFBC"/>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F1EFBC"/>
                      </a:solidFill>
                      <a:prstDash val="solid"/>
                      <a:round/>
                      <a:headEnd type="none" w="med" len="med"/>
                      <a:tailEnd type="none" w="med" len="med"/>
                    </a:lnB>
                  </a:tcPr>
                </a:tc>
                <a:tc>
                  <a:txBody>
                    <a:bodyPr/>
                    <a:lstStyle/>
                    <a:p>
                      <a:pPr algn="l" indent="0" marL="0">
                        <a:buNone/>
                      </a:pPr>
                      <a:r>
                        <a:rPr lang="en-US" sz="1800" dirty="0">
                          <a:solidFill>
                            <a:srgbClr val="2A3140"/>
                          </a:solidFill>
                          <a:latin typeface="IBM Plex Sans" pitchFamily="34" charset="0"/>
                          <a:ea typeface="IBM Plex Sans" pitchFamily="34" charset="-122"/>
                          <a:cs typeface="IBM Plex Sans" pitchFamily="34" charset="-120"/>
                        </a:rPr>
                        <a:t>Workload is displayed · To be verified</a:t>
                      </a:r>
                      <a:endParaRPr lang="en-US" sz="1800" dirty="0">
                        <a:latin typeface="IBM Plex Sans" charset="0"/>
                        <a:ea typeface="IBM Plex Sans" charset="0"/>
                        <a:cs typeface="IBM Plex Sans" charset="0"/>
                      </a:endParaRPr>
                    </a:p>
                  </a:txBody>
                  <a:tcPr marL="228594" marR="228594" marT="121917" marB="121917" anchor="ctr">
                    <a:lnL w="19050" cap="flat" cmpd="sng" algn="ctr">
                      <a:solidFill>
                        <a:srgbClr val="F1EFBC"/>
                      </a:solidFill>
                      <a:prstDash val="solid"/>
                      <a:round/>
                      <a:headEnd type="none" w="med" len="med"/>
                      <a:tailEnd type="none" w="med" len="med"/>
                    </a:lnL>
                    <a:lnR w="19050" cap="flat" cmpd="sng" algn="ctr">
                      <a:solidFill>
                        <a:srgbClr val="F1EFBC"/>
                      </a:solidFill>
                      <a:prstDash val="solid"/>
                      <a:round/>
                      <a:headEnd type="none" w="med" len="med"/>
                      <a:tailEnd type="none" w="med" len="med"/>
                    </a:lnR>
                    <a:lnT w="19050" cap="flat" cmpd="sng" algn="ctr">
                      <a:solidFill>
                        <a:srgbClr val="C99D6D"/>
                      </a:solidFill>
                      <a:prstDash val="solid"/>
                      <a:round/>
                      <a:headEnd type="none" w="med" len="med"/>
                      <a:tailEnd type="none" w="med" len="med"/>
                    </a:lnT>
                    <a:lnB w="19050" cap="flat" cmpd="sng" algn="ctr">
                      <a:solidFill>
                        <a:srgbClr val="F1EFB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11182" y="609600"/>
            <a:ext cx="5587860" cy="5999361"/>
          </a:xfrm>
          <a:prstGeom prst="roundRect">
            <a:avLst>
              <a:gd name="adj" fmla="val 2182"/>
            </a:avLst>
          </a:prstGeom>
          <a:solidFill>
            <a:srgbClr val="E7E3AC"/>
          </a:solidFill>
          <a:ln/>
        </p:spPr>
      </p:sp>
      <p:sp>
        <p:nvSpPr>
          <p:cNvPr id="3" name="Text 1"/>
          <p:cNvSpPr/>
          <p:nvPr/>
        </p:nvSpPr>
        <p:spPr>
          <a:xfrm>
            <a:off x="990575" y="871220"/>
            <a:ext cx="5638659"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000000"/>
                </a:solidFill>
                <a:latin typeface="Azeret Mono Medium" pitchFamily="34" charset="0"/>
                <a:ea typeface="Azeret Mono Medium" pitchFamily="34" charset="-122"/>
                <a:cs typeface="Azeret Mono Medium" pitchFamily="34" charset="-120"/>
              </a:rPr>
              <a:t>CLOSING REVIEW</a:t>
            </a:r>
            <a:endParaRPr lang="en-US" sz="1300" dirty="0"/>
          </a:p>
        </p:txBody>
      </p:sp>
      <p:sp>
        <p:nvSpPr>
          <p:cNvPr id="4" name="Text 2"/>
          <p:cNvSpPr/>
          <p:nvPr/>
        </p:nvSpPr>
        <p:spPr>
          <a:xfrm>
            <a:off x="990575" y="1218671"/>
            <a:ext cx="5029074" cy="1635522"/>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2A3140"/>
                </a:solidFill>
                <a:latin typeface="Michroma" pitchFamily="34" charset="0"/>
                <a:ea typeface="Michroma" pitchFamily="34" charset="-122"/>
                <a:cs typeface="Michroma" pitchFamily="34" charset="-120"/>
              </a:rPr>
              <a:t>The prototype demonstrates a grounded path to better scheduling</a:t>
            </a:r>
            <a:endParaRPr lang="en-US" sz="2800" dirty="0"/>
          </a:p>
        </p:txBody>
      </p:sp>
      <p:sp>
        <p:nvSpPr>
          <p:cNvPr id="5" name="Text 3"/>
          <p:cNvSpPr/>
          <p:nvPr/>
        </p:nvSpPr>
        <p:spPr>
          <a:xfrm>
            <a:off x="990575" y="3131185"/>
            <a:ext cx="5029074"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2A3140"/>
                </a:solidFill>
                <a:latin typeface="IBM Plex Sans" pitchFamily="34" charset="0"/>
                <a:ea typeface="IBM Plex Sans" pitchFamily="34" charset="-122"/>
                <a:cs typeface="IBM Plex Sans" pitchFamily="34" charset="-120"/>
              </a:rPr>
              <a:t>Implemented scope: summarize from supplied application evidence.</a:t>
            </a:r>
            <a:endParaRPr lang="en-US" sz="1800" dirty="0"/>
          </a:p>
        </p:txBody>
      </p:sp>
      <p:sp>
        <p:nvSpPr>
          <p:cNvPr id="6" name="Text 4"/>
          <p:cNvSpPr/>
          <p:nvPr/>
        </p:nvSpPr>
        <p:spPr>
          <a:xfrm>
            <a:off x="990575" y="4012803"/>
            <a:ext cx="5029074" cy="1428452"/>
          </a:xfrm>
          <a:prstGeom prst="rect">
            <a:avLst/>
          </a:prstGeom>
          <a:noFill/>
          <a:ln/>
        </p:spPr>
        <p:txBody>
          <a:bodyPr wrap="square" lIns="0" tIns="0" rIns="0" bIns="0" rtlCol="0" anchor="t">
            <a:normAutofit/>
          </a:bodyPr>
          <a:lstStyle/>
          <a:p>
            <a:pPr algn="l" indent="0" marL="0">
              <a:lnSpc>
                <a:spcPct val="108000"/>
              </a:lnSpc>
              <a:spcAft>
                <a:spcPts val="2100"/>
              </a:spcAft>
              <a:buNone/>
            </a:pPr>
            <a:r>
              <a:rPr lang="en-US" sz="1400" spc="14" kern="100" dirty="0">
                <a:solidFill>
                  <a:srgbClr val="000000"/>
                </a:solidFill>
                <a:latin typeface="IBM Plex Sans" pitchFamily="34" charset="0"/>
                <a:ea typeface="IBM Plex Sans" pitchFamily="34" charset="-122"/>
                <a:cs typeface="IBM Plex Sans" pitchFamily="34" charset="-120"/>
              </a:rPr>
              <a:t>Limitations: To be verified from the actual project files and screenshots.</a:t>
            </a:r>
            <a:endParaRPr lang="en-US" sz="1400" dirty="0"/>
          </a:p>
          <a:p>
            <a:pPr algn="l" indent="0" marL="0">
              <a:lnSpc>
                <a:spcPct val="108000"/>
              </a:lnSpc>
              <a:buNone/>
            </a:pPr>
            <a:r>
              <a:rPr lang="en-US" sz="1400" spc="14" kern="100" dirty="0">
                <a:solidFill>
                  <a:srgbClr val="000000"/>
                </a:solidFill>
                <a:latin typeface="IBM Plex Sans" pitchFamily="34" charset="0"/>
                <a:ea typeface="IBM Plex Sans" pitchFamily="34" charset="-122"/>
                <a:cs typeface="IBM Plex Sans" pitchFamily="34" charset="-120"/>
              </a:rPr>
              <a:t>Future scope: automated timetable generation, optimization, role-based authentication, export, substitution notifications, and richer analytics.</a:t>
            </a:r>
            <a:endParaRPr lang="en-US" sz="1400" dirty="0"/>
          </a:p>
        </p:txBody>
      </p:sp>
      <p:sp>
        <p:nvSpPr>
          <p:cNvPr id="7" name="Text 5"/>
          <p:cNvSpPr/>
          <p:nvPr/>
        </p:nvSpPr>
        <p:spPr>
          <a:xfrm>
            <a:off x="990575" y="5974020"/>
            <a:ext cx="5029074"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000000"/>
                </a:solidFill>
                <a:latin typeface="IBM Plex Sans Medium" pitchFamily="34" charset="0"/>
                <a:ea typeface="IBM Plex Sans Medium" pitchFamily="34" charset="-122"/>
                <a:cs typeface="IBM Plex Sans Medium" pitchFamily="34" charset="-120"/>
              </a:rPr>
              <a:t>Thank You —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2026-10-12T10:01:21Z</dcterms:created>
  <dcterms:modified xsi:type="dcterms:W3CDTF">2026-10-12T10:01:21Z</dcterms:modified>
</cp:coreProperties>
</file>